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A7120D9-C599-C1C4-FD86-7EC28C259BBE}">
          <p14:sldIdLst>
            <p14:sldId id="256"/>
          </p14:sldIdLst>
        </p14:section>
        <p14:section name="The game" id="{59F6CB87-36FD-DFDD-9285-42B1CC5B1F70}">
          <p14:sldIdLst>
            <p14:sldId id="257"/>
            <p14:sldId id="258"/>
            <p14:sldId id="259"/>
            <p14:sldId id="260"/>
          </p14:sldIdLst>
        </p14:section>
        <p14:section name="Team battle" id="{3D311228-F588-F917-C6A7-02BCCEDC7FC9}">
          <p14:sldIdLst>
            <p14:sldId id="261"/>
            <p14:sldId id="262"/>
          </p14:sldIdLst>
        </p14:section>
        <p14:section name="How it is built" id="{A6D135A6-33E6-13E7-3B77-78147B8FDCA7}">
          <p14:sldIdLst>
            <p14:sldId id="263"/>
            <p14:sldId id="264"/>
          </p14:sldIdLst>
        </p14:section>
        <p14:section name="Tests and honesty" id="{00F7E907-35E8-9EF9-767F-B45304AAFB6E}">
          <p14:sldIdLst>
            <p14:sldId id="265"/>
            <p14:sldId id="266"/>
          </p14:sldIdLst>
        </p14:section>
        <p14:section name="Close" id="{D563A8B2-A182-207C-1E4A-0CEAF112746B}">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943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20. Zero Hour turns ScottishPower's tabletop cyber game into a browser game. Our business is Lochside Energy: you have £3 million to spend on defences before a ransomware attack plays out overnight. It is live right now at the address on screen, and you can play it alone or as teams competing in one room.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tabletop game works, but only with a facilitator in a room, and the behaviour quiz sits on its own. We built a browser game with the questions inside every phase. It has two modes: single player for one screen, and a team battle where up to 15 teams join from their phones and compete against the same attack. That is the Foundation plus the Multiplayer stretch.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Choose your controls within £3m and lock the plan. Then the attack: each phase hits your wall with 10 attacks and shows what each control scored. After every phase there is a two-minute behaviour checkpoint. At the end you get your control score plus behaviour points, and a night report that tells you what to change.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runs from Monday 16:40 to Tuesday 06:30, exactly as in ScottishPower's scenario. The timing is the lesson: in the supplied scores, the 24/7 incident response team earns 9 points across the night, the office-hours team only 1, because the attack happens while the office is shut.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every phase, four questions from the bank of 40, chosen to match the story: in phase 3, right after the fake IT call, you get the MFA approval question. A secure answer is worth 2 points. And the answers change the game, not just the score: secure answers patch your wall, so your people stop up to 30 percent of the attacks that got past your controls in the next phase. The control score itself always comes from ScottishPower's supplied scoring module, unchanged.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stretch is multiplayer, taken further into a team battle. Up to 15 teams join one room from their phones. Each team needs at least two players, gets its own £3 million, and splits the Prevent, Detect and Respond roles. The host runs one night for everyone, so every wall faces the same attacks, and the screen shows whose wall held after each phase. The room locks when the night starts, and a player who leaves disappears instead of staying as a ghost.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about 3 minutes. Open the live site 5 minutes before, because the free hosting sleeps. 1) Host: Multiplayer, Host, Open a room. 2) Two phones join as Red and Blue. 3) Buy a few controls; show one refused buy, for example a Detect player trying a Prevent control. 4) Lock the plans and show the Room locked chip. 5) Reveal phase 1: the wall race. 6) Answer one checkpoint question on a phone and point at the People row on the wall. 7) Skip to the podium and open the night report. Backup if the Wi-Fi fails: npm start on the laptop, and use browser tabs as phones.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goes through one pure function, reduce(game, state, action), which returns a new state. Single player runs it in the browser. In the team battle the server runs it, one state per team: competition.mjs handles teams and the room lock, rooms.mjs checks who may act, and the engine decides what is allowed. Screens only read state and send actions. Scores always come from the supplied scoring module, unchanged.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design decision: the server owns the state and phones only ask. We considered letting each phone keep its own copy, but then two phones could spend the same money twice and every screen would have its own clock. Instead, each team has one reducer on the server; the server stamps who did what and when, and pushes the new state to everyone. Because time is passed in, a test can jump two minutes ahead in one 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338 tests, all passing; anyone can run npm test. Scores are always checked against the supplied scoring module. There are real server tests for live updates, refreshing a phone and the room lock. Ghassan wrote an audit suite that found six real bugs, such as the server serving hidden files; we fixed all six and kept the tests. The test we are glad we wrote: two phones spending the last £100,000 at the same moment, where only the first should go through.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Works: both modes end to end, phones on any network through the live site, the room lock, no ghost players, and reconnecting after a refresh. Not yet: games live in memory, so a restart ends them; the free hosting sleeps; rooms are not cleaned up yet; there are no accounts, so a name and team can re-claim a seat; and we have not tested with a screen reader. AI helped us plan, draft code and tests, and review; we made the design choices and checked everything with the tests and the supplied scoring module.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ScottishPower, the route forward is simple: the scenario and questions are plain JSON files the cyber team can edit, and one web link reaches every team. Happy to take questions; any of us can explain a part of the code or a test.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Thank-you video. It plays by itself when this slide opens (about 14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2A1F"/>
        </a:solidFill>
        <a:effectLst/>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marL="0" indent="0">
              <a:buNone/>
            </a:pPr>
            <a:r>
              <a:rPr lang="en-US" sz="1100" dirty="0">
                <a:solidFill>
                  <a:srgbClr val="BFD6C8"/>
                </a:solidFill>
              </a:rPr>
              <a:t>Team 20 · Zero Hour</a:t>
            </a:r>
            <a:endParaRPr lang="en-US" sz="11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rtlCol="0"/>
          <a:lstStyle>
            <a:lvl1pPr marL="0" indent="0" algn="l">
              <a:buNone/>
              <a:defRPr lang="en-US" sz="3400" b="1" dirty="0">
                <a:solidFill>
                  <a:srgbClr val="F3F6F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FD6C8"/>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3F6F1"/>
        </a:solidFill>
        <a:effectLst/>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marL="0" indent="0">
              <a:buNone/>
            </a:pPr>
            <a:r>
              <a:rPr lang="en-US" sz="1100" dirty="0">
                <a:solidFill>
                  <a:srgbClr val="5A6D64"/>
                </a:solidFill>
              </a:rPr>
              <a:t>Team 20 · Zero Hour</a:t>
            </a:r>
            <a:endParaRPr lang="en-US" sz="11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rtlCol="0"/>
          <a:lstStyle>
            <a:lvl1pPr marL="0" indent="0" algn="l">
              <a:buNone/>
              <a:defRPr lang="en-US" sz="3400" b="1" dirty="0">
                <a:solidFill>
                  <a:srgbClr val="14231B"/>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A6D6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FD6C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eam-20-vglm.onrender.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team-20-vglm.onrender.com/"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team-20-vglm.onrender.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822960"/>
            <a:ext cx="9144000" cy="274320"/>
          </a:xfrm>
          <a:prstGeom prst="rect">
            <a:avLst/>
          </a:prstGeom>
          <a:noFill/>
          <a:ln/>
        </p:spPr>
        <p:txBody>
          <a:bodyPr wrap="square" lIns="0" tIns="0" rIns="0" bIns="0" rtlCol="0" anchor="ctr"/>
          <a:lstStyle/>
          <a:p>
            <a:pPr marL="0" indent="0">
              <a:buNone/>
            </a:pPr>
            <a:r>
              <a:rPr lang="en-US" sz="1200" b="1" kern="0" spc="200" dirty="0">
                <a:solidFill>
                  <a:srgbClr val="2EB872"/>
                </a:solidFill>
              </a:rPr>
              <a:t>STRATHHACK26 · TEAM 20</a:t>
            </a:r>
            <a:endParaRPr lang="en-US" sz="1200" dirty="0"/>
          </a:p>
        </p:txBody>
      </p:sp>
      <p:sp>
        <p:nvSpPr>
          <p:cNvPr id="3" name="title"/>
          <p:cNvSpPr txBox="1"/>
          <p:nvPr/>
        </p:nvSpPr>
        <p:spPr>
          <a:xfrm>
            <a:off x="548640" y="1325880"/>
            <a:ext cx="5669280" cy="1188720"/>
          </a:xfrm>
          <a:prstGeom prst="rect">
            <a:avLst/>
          </a:prstGeom>
          <a:noFill/>
          <a:ln/>
        </p:spPr>
        <p:txBody>
          <a:bodyPr wrap="square" lIns="0" tIns="0" rIns="0" bIns="0" rtlCol="0" anchor="t"/>
          <a:lstStyle/>
          <a:p>
            <a:pPr marL="0" indent="0">
              <a:buNone/>
            </a:pPr>
            <a:r>
              <a:rPr lang="en-US" sz="6600" b="1" dirty="0">
                <a:solidFill>
                  <a:srgbClr val="F3F6F1"/>
                </a:solidFill>
              </a:rPr>
              <a:t>Zero Hour</a:t>
            </a:r>
            <a:endParaRPr lang="en-US" sz="6600" dirty="0"/>
          </a:p>
        </p:txBody>
      </p:sp>
      <p:sp>
        <p:nvSpPr>
          <p:cNvPr id="4" name="Text 2"/>
          <p:cNvSpPr txBox="1"/>
          <p:nvPr/>
        </p:nvSpPr>
        <p:spPr>
          <a:xfrm>
            <a:off x="548640" y="2743200"/>
            <a:ext cx="5394960" cy="1463040"/>
          </a:xfrm>
          <a:prstGeom prst="rect">
            <a:avLst/>
          </a:prstGeom>
          <a:noFill/>
          <a:ln/>
        </p:spPr>
        <p:txBody>
          <a:bodyPr wrap="square" lIns="0" tIns="0" rIns="0" bIns="0" rtlCol="0" anchor="t"/>
          <a:lstStyle/>
          <a:p>
            <a:pPr marL="0" indent="0">
              <a:buNone/>
            </a:pPr>
            <a:r>
              <a:rPr lang="en-US" sz="1900" dirty="0">
                <a:solidFill>
                  <a:srgbClr val="BFD6C8"/>
                </a:solidFill>
              </a:rPr>
              <a:t>A digital cyber defence game for ScottishPower teams. Spend £3 million, survive a night-long ransomware attack, and make the right calls yourself, alone or team against team.</a:t>
            </a:r>
            <a:endParaRPr lang="en-US" sz="1900" dirty="0"/>
          </a:p>
        </p:txBody>
      </p:sp>
      <p:sp>
        <p:nvSpPr>
          <p:cNvPr id="5" name="Text 3"/>
          <p:cNvSpPr txBox="1"/>
          <p:nvPr/>
        </p:nvSpPr>
        <p:spPr>
          <a:xfrm>
            <a:off x="548640" y="4343400"/>
            <a:ext cx="5394960" cy="365760"/>
          </a:xfrm>
          <a:prstGeom prst="rect">
            <a:avLst/>
          </a:prstGeom>
          <a:noFill/>
          <a:ln/>
        </p:spPr>
        <p:txBody>
          <a:bodyPr wrap="square" lIns="0" tIns="0" rIns="0" bIns="0" rtlCol="0" anchor="t"/>
          <a:lstStyle/>
          <a:p>
            <a:pPr marL="0" indent="0">
              <a:buNone/>
            </a:pPr>
            <a:r>
              <a:rPr lang="en-US" sz="1600" dirty="0">
                <a:solidFill>
                  <a:srgbClr val="BFD6C8"/>
                </a:solidFill>
              </a:rPr>
              <a:t>Play it now: </a:t>
            </a:r>
            <a:r>
              <a:rPr lang="en-US" sz="1600" b="1" u="sng" dirty="0">
                <a:solidFill>
                  <a:srgbClr val="2EB872"/>
                </a:solidFill>
                <a:hlinkClick r:id="rId3">
                  <a:extLst>
                    <a:ext uri="{A12FA001-AC4F-418D-AE19-62706E023703}">
                      <ahyp:hlinkClr xmlns:ahyp="http://schemas.microsoft.com/office/drawing/2018/hyperlinkcolor" val="tx"/>
                    </a:ext>
                  </a:extLst>
                </a:hlinkClick>
              </a:rPr>
              <a:t>team-20-vglm.onrender.com</a:t>
            </a:r>
            <a:endParaRPr lang="en-US" sz="1600" dirty="0"/>
          </a:p>
        </p:txBody>
      </p:sp>
      <p:sp>
        <p:nvSpPr>
          <p:cNvPr id="6" name="Text 4"/>
          <p:cNvSpPr txBox="1"/>
          <p:nvPr/>
        </p:nvSpPr>
        <p:spPr>
          <a:xfrm>
            <a:off x="548640" y="5257800"/>
            <a:ext cx="5486400" cy="320040"/>
          </a:xfrm>
          <a:prstGeom prst="rect">
            <a:avLst/>
          </a:prstGeom>
          <a:noFill/>
          <a:ln/>
        </p:spPr>
        <p:txBody>
          <a:bodyPr wrap="square" lIns="0" tIns="0" rIns="0" bIns="0" rtlCol="0" anchor="t"/>
          <a:lstStyle/>
          <a:p>
            <a:pPr marL="0" indent="0">
              <a:buNone/>
            </a:pPr>
            <a:r>
              <a:rPr lang="en-US" sz="1400" dirty="0">
                <a:solidFill>
                  <a:srgbClr val="BFD6C8"/>
                </a:solidFill>
              </a:rPr>
              <a:t>Tejas · Rayyan · Ghassan · Vansh · Mo</a:t>
            </a:r>
            <a:endParaRPr lang="en-US" sz="1400" dirty="0"/>
          </a:p>
        </p:txBody>
      </p:sp>
      <p:sp>
        <p:nvSpPr>
          <p:cNvPr id="7" name="frame shot-home.png"/>
          <p:cNvSpPr/>
          <p:nvPr/>
        </p:nvSpPr>
        <p:spPr>
          <a:xfrm>
            <a:off x="6364224" y="1380744"/>
            <a:ext cx="5330952" cy="3359277"/>
          </a:xfrm>
          <a:prstGeom prst="roundRect">
            <a:avLst>
              <a:gd name="adj" fmla="val 1633"/>
            </a:avLst>
          </a:prstGeom>
          <a:solidFill>
            <a:srgbClr val="334E43"/>
          </a:solidFill>
          <a:ln/>
        </p:spPr>
      </p:sp>
      <p:pic>
        <p:nvPicPr>
          <p:cNvPr id="8" name="screenshot shot-home.png" descr="C:\Users\Vansh\AppData\Local\Temp\claude\C--Users-Vansh-Strath-Hack-26\1624dc5c-1046-4376-bbb9-cc5fa2a2dcb5\scratchpad\deck\shot-home.png"/>
          <p:cNvPicPr>
            <a:picLocks noChangeAspect="1"/>
          </p:cNvPicPr>
          <p:nvPr/>
        </p:nvPicPr>
        <p:blipFill>
          <a:blip r:embed="rId4"/>
          <a:stretch>
            <a:fillRect/>
          </a:stretch>
        </p:blipFill>
        <p:spPr>
          <a:xfrm>
            <a:off x="6400800" y="1417320"/>
            <a:ext cx="5257800" cy="3286125"/>
          </a:xfrm>
          <a:prstGeom prst="rect">
            <a:avLst/>
          </a:prstGeom>
        </p:spPr>
      </p:pic>
      <p:sp>
        <p:nvSpPr>
          <p:cNvPr id="10"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FD6C8"/>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0B7A43"/>
                </a:solidFill>
              </a:rPr>
              <a:t>THE PROBLEM</a:t>
            </a:r>
            <a:endParaRPr lang="en-US" sz="12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31B"/>
                </a:solidFill>
              </a:rPr>
              <a:t>A proven game that only works in a room</a:t>
            </a:r>
            <a:endParaRPr lang="en-US" sz="3400" dirty="0"/>
          </a:p>
        </p:txBody>
      </p:sp>
      <p:sp>
        <p:nvSpPr>
          <p:cNvPr id="4" name="card today"/>
          <p:cNvSpPr/>
          <p:nvPr/>
        </p:nvSpPr>
        <p:spPr>
          <a:xfrm>
            <a:off x="548640" y="1828800"/>
            <a:ext cx="3520440" cy="3063240"/>
          </a:xfrm>
          <a:prstGeom prst="roundRect">
            <a:avLst>
              <a:gd name="adj" fmla="val 2388"/>
            </a:avLst>
          </a:prstGeom>
          <a:solidFill>
            <a:srgbClr val="E6EBE7"/>
          </a:solidFill>
          <a:ln/>
        </p:spPr>
      </p:sp>
      <p:sp>
        <p:nvSpPr>
          <p:cNvPr id="5" name="Text 3"/>
          <p:cNvSpPr txBox="1"/>
          <p:nvPr/>
        </p:nvSpPr>
        <p:spPr>
          <a:xfrm>
            <a:off x="822960" y="2103120"/>
            <a:ext cx="2971800" cy="365760"/>
          </a:xfrm>
          <a:prstGeom prst="rect">
            <a:avLst/>
          </a:prstGeom>
          <a:noFill/>
          <a:ln/>
        </p:spPr>
        <p:txBody>
          <a:bodyPr wrap="square" lIns="0" tIns="0" rIns="0" bIns="0" rtlCol="0" anchor="t"/>
          <a:lstStyle/>
          <a:p>
            <a:pPr marL="0" indent="0">
              <a:buNone/>
            </a:pPr>
            <a:r>
              <a:rPr lang="en-US" sz="1800" b="1" dirty="0">
                <a:solidFill>
                  <a:srgbClr val="14231B"/>
                </a:solidFill>
              </a:rPr>
              <a:t>Today</a:t>
            </a:r>
            <a:endParaRPr lang="en-US" sz="1800" dirty="0"/>
          </a:p>
        </p:txBody>
      </p:sp>
      <p:sp>
        <p:nvSpPr>
          <p:cNvPr id="6" name="Text 4"/>
          <p:cNvSpPr txBox="1"/>
          <p:nvPr/>
        </p:nvSpPr>
        <p:spPr>
          <a:xfrm>
            <a:off x="822960" y="2606040"/>
            <a:ext cx="2971800"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4231B"/>
                </a:solidFill>
              </a:rPr>
              <a:t>Paper cards and a facilitator in the room</a:t>
            </a:r>
            <a:endParaRPr lang="en-US" sz="1500" dirty="0"/>
          </a:p>
          <a:p>
            <a:pPr marL="342900" indent="-342900">
              <a:spcAft>
                <a:spcPts val="600"/>
              </a:spcAft>
              <a:buSzPct val="100000"/>
              <a:buChar char="•"/>
            </a:pPr>
            <a:r>
              <a:rPr lang="en-US" sz="1500" dirty="0">
                <a:solidFill>
                  <a:srgbClr val="14231B"/>
                </a:solidFill>
              </a:rPr>
              <a:t>Behaviour questions are a separate quiz</a:t>
            </a:r>
            <a:endParaRPr lang="en-US" sz="1500" dirty="0"/>
          </a:p>
          <a:p>
            <a:pPr marL="342900" indent="-342900">
              <a:spcAft>
                <a:spcPts val="600"/>
              </a:spcAft>
              <a:buSzPct val="100000"/>
              <a:buChar char="•"/>
            </a:pPr>
            <a:r>
              <a:rPr lang="en-US" sz="1500" dirty="0">
                <a:solidFill>
                  <a:srgbClr val="14231B"/>
                </a:solidFill>
              </a:rPr>
              <a:t>Only reaches people at onboarding events</a:t>
            </a:r>
            <a:endParaRPr lang="en-US" sz="1500" dirty="0"/>
          </a:p>
        </p:txBody>
      </p:sp>
      <p:sp>
        <p:nvSpPr>
          <p:cNvPr id="7" name="card built"/>
          <p:cNvSpPr/>
          <p:nvPr/>
        </p:nvSpPr>
        <p:spPr>
          <a:xfrm>
            <a:off x="4343400" y="1828800"/>
            <a:ext cx="3520440" cy="3063240"/>
          </a:xfrm>
          <a:prstGeom prst="roundRect">
            <a:avLst>
              <a:gd name="adj" fmla="val 2388"/>
            </a:avLst>
          </a:prstGeom>
          <a:solidFill>
            <a:srgbClr val="FFFFFF"/>
          </a:solidFill>
          <a:ln w="9525">
            <a:solidFill>
              <a:srgbClr val="C9D3CC"/>
            </a:solidFill>
            <a:prstDash val="solid"/>
          </a:ln>
        </p:spPr>
      </p:sp>
      <p:sp>
        <p:nvSpPr>
          <p:cNvPr id="8" name="Text 6"/>
          <p:cNvSpPr txBox="1"/>
          <p:nvPr/>
        </p:nvSpPr>
        <p:spPr>
          <a:xfrm>
            <a:off x="4617720" y="2103120"/>
            <a:ext cx="2971800" cy="365760"/>
          </a:xfrm>
          <a:prstGeom prst="rect">
            <a:avLst/>
          </a:prstGeom>
          <a:noFill/>
          <a:ln/>
        </p:spPr>
        <p:txBody>
          <a:bodyPr wrap="square" lIns="0" tIns="0" rIns="0" bIns="0" rtlCol="0" anchor="t"/>
          <a:lstStyle/>
          <a:p>
            <a:pPr marL="0" indent="0">
              <a:buNone/>
            </a:pPr>
            <a:r>
              <a:rPr lang="en-US" sz="1800" b="1" dirty="0">
                <a:solidFill>
                  <a:srgbClr val="0B7A43"/>
                </a:solidFill>
              </a:rPr>
              <a:t>What we built</a:t>
            </a:r>
            <a:endParaRPr lang="en-US" sz="1800" dirty="0"/>
          </a:p>
        </p:txBody>
      </p:sp>
      <p:sp>
        <p:nvSpPr>
          <p:cNvPr id="9" name="Text 7"/>
          <p:cNvSpPr txBox="1"/>
          <p:nvPr/>
        </p:nvSpPr>
        <p:spPr>
          <a:xfrm>
            <a:off x="4617720" y="2606040"/>
            <a:ext cx="2971800"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4231B"/>
                </a:solidFill>
              </a:rPr>
              <a:t>A browser game: no install, no account</a:t>
            </a:r>
            <a:endParaRPr lang="en-US" sz="1500" dirty="0"/>
          </a:p>
          <a:p>
            <a:pPr marL="342900" indent="-342900">
              <a:spcAft>
                <a:spcPts val="600"/>
              </a:spcAft>
              <a:buSzPct val="100000"/>
              <a:buChar char="•"/>
            </a:pPr>
            <a:r>
              <a:rPr lang="en-US" sz="1500" dirty="0">
                <a:solidFill>
                  <a:srgbClr val="14231B"/>
                </a:solidFill>
              </a:rPr>
              <a:t>The 40 questions built into every phase</a:t>
            </a:r>
            <a:endParaRPr lang="en-US" sz="1500" dirty="0"/>
          </a:p>
          <a:p>
            <a:pPr marL="342900" indent="-342900">
              <a:spcAft>
                <a:spcPts val="600"/>
              </a:spcAft>
              <a:buSzPct val="100000"/>
              <a:buChar char="•"/>
            </a:pPr>
            <a:r>
              <a:rPr lang="en-US" sz="1500" dirty="0">
                <a:solidFill>
                  <a:srgbClr val="14231B"/>
                </a:solidFill>
              </a:rPr>
              <a:t>Live on the web, ready for any team</a:t>
            </a:r>
            <a:endParaRPr lang="en-US" sz="1500" dirty="0"/>
          </a:p>
        </p:txBody>
      </p:sp>
      <p:sp>
        <p:nvSpPr>
          <p:cNvPr id="10" name="card modes"/>
          <p:cNvSpPr/>
          <p:nvPr/>
        </p:nvSpPr>
        <p:spPr>
          <a:xfrm>
            <a:off x="8138160" y="1828800"/>
            <a:ext cx="3520440" cy="3063240"/>
          </a:xfrm>
          <a:prstGeom prst="roundRect">
            <a:avLst>
              <a:gd name="adj" fmla="val 2388"/>
            </a:avLst>
          </a:prstGeom>
          <a:solidFill>
            <a:srgbClr val="0E2A1F"/>
          </a:solidFill>
          <a:ln/>
        </p:spPr>
      </p:sp>
      <p:sp>
        <p:nvSpPr>
          <p:cNvPr id="11" name="Text 9"/>
          <p:cNvSpPr txBox="1"/>
          <p:nvPr/>
        </p:nvSpPr>
        <p:spPr>
          <a:xfrm>
            <a:off x="8412480" y="2103120"/>
            <a:ext cx="2971800" cy="365760"/>
          </a:xfrm>
          <a:prstGeom prst="rect">
            <a:avLst/>
          </a:prstGeom>
          <a:noFill/>
          <a:ln/>
        </p:spPr>
        <p:txBody>
          <a:bodyPr wrap="square" lIns="0" tIns="0" rIns="0" bIns="0" rtlCol="0" anchor="t"/>
          <a:lstStyle/>
          <a:p>
            <a:pPr marL="0" indent="0">
              <a:buNone/>
            </a:pPr>
            <a:r>
              <a:rPr lang="en-US" sz="1800" b="1" dirty="0">
                <a:solidFill>
                  <a:srgbClr val="2EB872"/>
                </a:solidFill>
              </a:rPr>
              <a:t>Two ways to play</a:t>
            </a:r>
            <a:endParaRPr lang="en-US" sz="1800" dirty="0"/>
          </a:p>
        </p:txBody>
      </p:sp>
      <p:sp>
        <p:nvSpPr>
          <p:cNvPr id="12" name="Text 10"/>
          <p:cNvSpPr txBox="1"/>
          <p:nvPr/>
        </p:nvSpPr>
        <p:spPr>
          <a:xfrm>
            <a:off x="8412480" y="2606040"/>
            <a:ext cx="2971800"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F3F6F1"/>
                </a:solidFill>
              </a:rPr>
              <a:t>Single player: one screen, one team around it</a:t>
            </a:r>
            <a:endParaRPr lang="en-US" sz="1500" dirty="0"/>
          </a:p>
          <a:p>
            <a:pPr marL="342900" indent="-342900">
              <a:spcAft>
                <a:spcPts val="600"/>
              </a:spcAft>
              <a:buSzPct val="100000"/>
              <a:buChar char="•"/>
            </a:pPr>
            <a:r>
              <a:rPr lang="en-US" sz="1500" dirty="0">
                <a:solidFill>
                  <a:srgbClr val="F3F6F1"/>
                </a:solidFill>
              </a:rPr>
              <a:t>Team battle: phones join a room, up to 15 teams compete</a:t>
            </a:r>
            <a:endParaRPr lang="en-US" sz="1500" dirty="0"/>
          </a:p>
          <a:p>
            <a:pPr marL="342900" indent="-342900">
              <a:spcAft>
                <a:spcPts val="600"/>
              </a:spcAft>
              <a:buSzPct val="100000"/>
              <a:buChar char="•"/>
            </a:pPr>
            <a:r>
              <a:rPr lang="en-US" sz="1500" dirty="0">
                <a:solidFill>
                  <a:srgbClr val="F3F6F1"/>
                </a:solidFill>
              </a:rPr>
              <a:t>Same night, same attacks: best wall wins</a:t>
            </a:r>
            <a:endParaRPr lang="en-US" sz="1500" dirty="0"/>
          </a:p>
        </p:txBody>
      </p:sp>
      <p:sp>
        <p:nvSpPr>
          <p:cNvPr id="13" name="Text 11"/>
          <p:cNvSpPr txBox="1"/>
          <p:nvPr/>
        </p:nvSpPr>
        <p:spPr>
          <a:xfrm>
            <a:off x="548640" y="5212080"/>
            <a:ext cx="11094415" cy="365760"/>
          </a:xfrm>
          <a:prstGeom prst="rect">
            <a:avLst/>
          </a:prstGeom>
          <a:noFill/>
          <a:ln/>
        </p:spPr>
        <p:txBody>
          <a:bodyPr wrap="square" lIns="0" tIns="0" rIns="0" bIns="0" rtlCol="0" anchor="t"/>
          <a:lstStyle/>
          <a:p>
            <a:pPr marL="0" indent="0">
              <a:buNone/>
            </a:pPr>
            <a:r>
              <a:rPr lang="en-US" sz="1500" b="1" dirty="0">
                <a:solidFill>
                  <a:srgbClr val="0B7A43"/>
                </a:solidFill>
              </a:rPr>
              <a:t>Foundation </a:t>
            </a:r>
            <a:r>
              <a:rPr lang="en-US" sz="1500" dirty="0">
                <a:solidFill>
                  <a:srgbClr val="14231B"/>
                </a:solidFill>
              </a:rPr>
              <a:t>+ behaviour questions in the scoring   ·   </a:t>
            </a:r>
            <a:r>
              <a:rPr lang="en-US" sz="1500" b="1" dirty="0">
                <a:solidFill>
                  <a:srgbClr val="0B7A43"/>
                </a:solidFill>
              </a:rPr>
              <a:t>Stretch </a:t>
            </a:r>
            <a:r>
              <a:rPr lang="en-US" sz="1500" dirty="0">
                <a:solidFill>
                  <a:srgbClr val="14231B"/>
                </a:solidFill>
              </a:rPr>
              <a:t>= Multiplayer, extended into a team battle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A6D6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0B7A43"/>
                </a:solidFill>
              </a:rPr>
              <a:t>HOW IT PLAYS</a:t>
            </a:r>
            <a:endParaRPr lang="en-US" sz="12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31B"/>
                </a:solidFill>
              </a:rPr>
              <a:t>Four steps, one score</a:t>
            </a:r>
            <a:endParaRPr lang="en-US" sz="3400" dirty="0"/>
          </a:p>
        </p:txBody>
      </p:sp>
      <p:sp>
        <p:nvSpPr>
          <p:cNvPr id="4" name="step 1"/>
          <p:cNvSpPr/>
          <p:nvPr/>
        </p:nvSpPr>
        <p:spPr>
          <a:xfrm>
            <a:off x="548640" y="1828800"/>
            <a:ext cx="2587752" cy="3886200"/>
          </a:xfrm>
          <a:prstGeom prst="roundRect">
            <a:avLst>
              <a:gd name="adj" fmla="val 2827"/>
            </a:avLst>
          </a:prstGeom>
          <a:solidFill>
            <a:srgbClr val="FFFFFF"/>
          </a:solidFill>
          <a:ln w="9525">
            <a:solidFill>
              <a:srgbClr val="C9D3CC"/>
            </a:solidFill>
            <a:prstDash val="solid"/>
          </a:ln>
        </p:spPr>
      </p:sp>
      <p:pic>
        <p:nvPicPr>
          <p:cNvPr id="5" name="step shot 1" descr="C:\Users\Vansh\AppData\Local\Temp\claude\C--Users-Vansh-Strath-Hack-26\1624dc5c-1046-4376-bbb9-cc5fa2a2dcb5\scratchpad\deck\shot-choose.png"/>
          <p:cNvPicPr>
            <a:picLocks noChangeAspect="1"/>
          </p:cNvPicPr>
          <p:nvPr/>
        </p:nvPicPr>
        <p:blipFill>
          <a:blip r:embed="rId3"/>
          <a:stretch>
            <a:fillRect/>
          </a:stretch>
        </p:blipFill>
        <p:spPr>
          <a:xfrm>
            <a:off x="685800" y="1965960"/>
            <a:ext cx="2313432" cy="1445895"/>
          </a:xfrm>
          <a:prstGeom prst="rect">
            <a:avLst/>
          </a:prstGeom>
        </p:spPr>
      </p:pic>
      <p:sp>
        <p:nvSpPr>
          <p:cNvPr id="6" name="Text 3"/>
          <p:cNvSpPr txBox="1"/>
          <p:nvPr/>
        </p:nvSpPr>
        <p:spPr>
          <a:xfrm>
            <a:off x="777240" y="3594735"/>
            <a:ext cx="457200" cy="365760"/>
          </a:xfrm>
          <a:prstGeom prst="rect">
            <a:avLst/>
          </a:prstGeom>
          <a:noFill/>
          <a:ln/>
        </p:spPr>
        <p:txBody>
          <a:bodyPr wrap="square" lIns="0" tIns="0" rIns="0" bIns="0" rtlCol="0" anchor="t"/>
          <a:lstStyle/>
          <a:p>
            <a:pPr marL="0" indent="0">
              <a:buNone/>
            </a:pPr>
            <a:r>
              <a:rPr lang="en-US" sz="2000" b="1" dirty="0">
                <a:solidFill>
                  <a:srgbClr val="0B7A43"/>
                </a:solidFill>
              </a:rPr>
              <a:t>1</a:t>
            </a:r>
            <a:endParaRPr lang="en-US" sz="2000" dirty="0"/>
          </a:p>
        </p:txBody>
      </p:sp>
      <p:sp>
        <p:nvSpPr>
          <p:cNvPr id="7" name="Text 4"/>
          <p:cNvSpPr txBox="1"/>
          <p:nvPr/>
        </p:nvSpPr>
        <p:spPr>
          <a:xfrm>
            <a:off x="777240" y="3978783"/>
            <a:ext cx="2130552" cy="365760"/>
          </a:xfrm>
          <a:prstGeom prst="rect">
            <a:avLst/>
          </a:prstGeom>
          <a:noFill/>
          <a:ln/>
        </p:spPr>
        <p:txBody>
          <a:bodyPr wrap="square" lIns="0" tIns="0" rIns="0" bIns="0" rtlCol="0" anchor="t"/>
          <a:lstStyle/>
          <a:p>
            <a:pPr marL="0" indent="0">
              <a:buNone/>
            </a:pPr>
            <a:r>
              <a:rPr lang="en-US" sz="1800" b="1" dirty="0">
                <a:solidFill>
                  <a:srgbClr val="14231B"/>
                </a:solidFill>
              </a:rPr>
              <a:t>Choose</a:t>
            </a:r>
            <a:endParaRPr lang="en-US" sz="1800" dirty="0"/>
          </a:p>
        </p:txBody>
      </p:sp>
      <p:sp>
        <p:nvSpPr>
          <p:cNvPr id="8" name="Text 5"/>
          <p:cNvSpPr txBox="1"/>
          <p:nvPr/>
        </p:nvSpPr>
        <p:spPr>
          <a:xfrm>
            <a:off x="777240" y="4399407"/>
            <a:ext cx="2130552" cy="1463040"/>
          </a:xfrm>
          <a:prstGeom prst="rect">
            <a:avLst/>
          </a:prstGeom>
          <a:noFill/>
          <a:ln/>
        </p:spPr>
        <p:txBody>
          <a:bodyPr wrap="square" lIns="0" tIns="0" rIns="0" bIns="0" rtlCol="0" anchor="t"/>
          <a:lstStyle/>
          <a:p>
            <a:pPr marL="0" indent="0">
              <a:buNone/>
            </a:pPr>
            <a:r>
              <a:rPr lang="en-US" sz="1300" dirty="0">
                <a:solidFill>
                  <a:srgbClr val="5A6D64"/>
                </a:solidFill>
              </a:rPr>
              <a:t>Spend up to £3m on 18 controls. One Prevent, one Detect and one Respond in single player. Lock it in.</a:t>
            </a:r>
            <a:endParaRPr lang="en-US" sz="1300" dirty="0"/>
          </a:p>
        </p:txBody>
      </p:sp>
      <p:sp>
        <p:nvSpPr>
          <p:cNvPr id="9" name="step 2"/>
          <p:cNvSpPr/>
          <p:nvPr/>
        </p:nvSpPr>
        <p:spPr>
          <a:xfrm>
            <a:off x="3364992" y="1828800"/>
            <a:ext cx="2587752" cy="3886200"/>
          </a:xfrm>
          <a:prstGeom prst="roundRect">
            <a:avLst>
              <a:gd name="adj" fmla="val 2827"/>
            </a:avLst>
          </a:prstGeom>
          <a:solidFill>
            <a:srgbClr val="FFFFFF"/>
          </a:solidFill>
          <a:ln w="9525">
            <a:solidFill>
              <a:srgbClr val="C9D3CC"/>
            </a:solidFill>
            <a:prstDash val="solid"/>
          </a:ln>
        </p:spPr>
      </p:sp>
      <p:pic>
        <p:nvPicPr>
          <p:cNvPr id="10" name="step shot 2" descr="C:\Users\Vansh\AppData\Local\Temp\claude\C--Users-Vansh-Strath-Hack-26\1624dc5c-1046-4376-bbb9-cc5fa2a2dcb5\scratchpad\deck\shot-reveal.png"/>
          <p:cNvPicPr>
            <a:picLocks noChangeAspect="1"/>
          </p:cNvPicPr>
          <p:nvPr/>
        </p:nvPicPr>
        <p:blipFill>
          <a:blip r:embed="rId4"/>
          <a:stretch>
            <a:fillRect/>
          </a:stretch>
        </p:blipFill>
        <p:spPr>
          <a:xfrm>
            <a:off x="3502152" y="1965960"/>
            <a:ext cx="2313432" cy="1445895"/>
          </a:xfrm>
          <a:prstGeom prst="rect">
            <a:avLst/>
          </a:prstGeom>
        </p:spPr>
      </p:pic>
      <p:sp>
        <p:nvSpPr>
          <p:cNvPr id="11" name="Text 7"/>
          <p:cNvSpPr txBox="1"/>
          <p:nvPr/>
        </p:nvSpPr>
        <p:spPr>
          <a:xfrm>
            <a:off x="3593592" y="3594735"/>
            <a:ext cx="457200" cy="365760"/>
          </a:xfrm>
          <a:prstGeom prst="rect">
            <a:avLst/>
          </a:prstGeom>
          <a:noFill/>
          <a:ln/>
        </p:spPr>
        <p:txBody>
          <a:bodyPr wrap="square" lIns="0" tIns="0" rIns="0" bIns="0" rtlCol="0" anchor="t"/>
          <a:lstStyle/>
          <a:p>
            <a:pPr marL="0" indent="0">
              <a:buNone/>
            </a:pPr>
            <a:r>
              <a:rPr lang="en-US" sz="2000" b="1" dirty="0">
                <a:solidFill>
                  <a:srgbClr val="0B7A43"/>
                </a:solidFill>
              </a:rPr>
              <a:t>2</a:t>
            </a:r>
            <a:endParaRPr lang="en-US" sz="2000" dirty="0"/>
          </a:p>
        </p:txBody>
      </p:sp>
      <p:sp>
        <p:nvSpPr>
          <p:cNvPr id="12" name="Text 8"/>
          <p:cNvSpPr txBox="1"/>
          <p:nvPr/>
        </p:nvSpPr>
        <p:spPr>
          <a:xfrm>
            <a:off x="3593592" y="3978783"/>
            <a:ext cx="2130552" cy="365760"/>
          </a:xfrm>
          <a:prstGeom prst="rect">
            <a:avLst/>
          </a:prstGeom>
          <a:noFill/>
          <a:ln/>
        </p:spPr>
        <p:txBody>
          <a:bodyPr wrap="square" lIns="0" tIns="0" rIns="0" bIns="0" rtlCol="0" anchor="t"/>
          <a:lstStyle/>
          <a:p>
            <a:pPr marL="0" indent="0">
              <a:buNone/>
            </a:pPr>
            <a:r>
              <a:rPr lang="en-US" sz="1800" b="1" dirty="0">
                <a:solidFill>
                  <a:srgbClr val="14231B"/>
                </a:solidFill>
              </a:rPr>
              <a:t>Attack</a:t>
            </a:r>
            <a:endParaRPr lang="en-US" sz="1800" dirty="0"/>
          </a:p>
        </p:txBody>
      </p:sp>
      <p:sp>
        <p:nvSpPr>
          <p:cNvPr id="13" name="Text 9"/>
          <p:cNvSpPr txBox="1"/>
          <p:nvPr/>
        </p:nvSpPr>
        <p:spPr>
          <a:xfrm>
            <a:off x="3593592" y="4399407"/>
            <a:ext cx="2130552" cy="1463040"/>
          </a:xfrm>
          <a:prstGeom prst="rect">
            <a:avLst/>
          </a:prstGeom>
          <a:noFill/>
          <a:ln/>
        </p:spPr>
        <p:txBody>
          <a:bodyPr wrap="square" lIns="0" tIns="0" rIns="0" bIns="0" rtlCol="0" anchor="t"/>
          <a:lstStyle/>
          <a:p>
            <a:pPr marL="0" indent="0">
              <a:buNone/>
            </a:pPr>
            <a:r>
              <a:rPr lang="en-US" sz="1300" dirty="0">
                <a:solidFill>
                  <a:srgbClr val="5A6D64"/>
                </a:solidFill>
              </a:rPr>
              <a:t>Four phases. Each one shows how many of 10 attacks your wall held, and what every control scored.</a:t>
            </a:r>
            <a:endParaRPr lang="en-US" sz="1300" dirty="0"/>
          </a:p>
        </p:txBody>
      </p:sp>
      <p:sp>
        <p:nvSpPr>
          <p:cNvPr id="14" name="step 3"/>
          <p:cNvSpPr/>
          <p:nvPr/>
        </p:nvSpPr>
        <p:spPr>
          <a:xfrm>
            <a:off x="6181344" y="1828800"/>
            <a:ext cx="2587752" cy="3886200"/>
          </a:xfrm>
          <a:prstGeom prst="roundRect">
            <a:avLst>
              <a:gd name="adj" fmla="val 2827"/>
            </a:avLst>
          </a:prstGeom>
          <a:solidFill>
            <a:srgbClr val="FFFFFF"/>
          </a:solidFill>
          <a:ln w="9525">
            <a:solidFill>
              <a:srgbClr val="C9D3CC"/>
            </a:solidFill>
            <a:prstDash val="solid"/>
          </a:ln>
        </p:spPr>
      </p:sp>
      <p:pic>
        <p:nvPicPr>
          <p:cNvPr id="15" name="step shot 3" descr="C:\Users\Vansh\AppData\Local\Temp\claude\C--Users-Vansh-Strath-Hack-26\1624dc5c-1046-4376-bbb9-cc5fa2a2dcb5\scratchpad\deck\shot-checkpoint.png"/>
          <p:cNvPicPr>
            <a:picLocks noChangeAspect="1"/>
          </p:cNvPicPr>
          <p:nvPr/>
        </p:nvPicPr>
        <p:blipFill>
          <a:blip r:embed="rId5"/>
          <a:stretch>
            <a:fillRect/>
          </a:stretch>
        </p:blipFill>
        <p:spPr>
          <a:xfrm>
            <a:off x="6318504" y="1965960"/>
            <a:ext cx="2313432" cy="1445895"/>
          </a:xfrm>
          <a:prstGeom prst="rect">
            <a:avLst/>
          </a:prstGeom>
        </p:spPr>
      </p:pic>
      <p:sp>
        <p:nvSpPr>
          <p:cNvPr id="16" name="Text 11"/>
          <p:cNvSpPr txBox="1"/>
          <p:nvPr/>
        </p:nvSpPr>
        <p:spPr>
          <a:xfrm>
            <a:off x="6409944" y="3594735"/>
            <a:ext cx="457200" cy="365760"/>
          </a:xfrm>
          <a:prstGeom prst="rect">
            <a:avLst/>
          </a:prstGeom>
          <a:noFill/>
          <a:ln/>
        </p:spPr>
        <p:txBody>
          <a:bodyPr wrap="square" lIns="0" tIns="0" rIns="0" bIns="0" rtlCol="0" anchor="t"/>
          <a:lstStyle/>
          <a:p>
            <a:pPr marL="0" indent="0">
              <a:buNone/>
            </a:pPr>
            <a:r>
              <a:rPr lang="en-US" sz="2000" b="1" dirty="0">
                <a:solidFill>
                  <a:srgbClr val="0B7A43"/>
                </a:solidFill>
              </a:rPr>
              <a:t>3</a:t>
            </a:r>
            <a:endParaRPr lang="en-US" sz="2000" dirty="0"/>
          </a:p>
        </p:txBody>
      </p:sp>
      <p:sp>
        <p:nvSpPr>
          <p:cNvPr id="17" name="Text 12"/>
          <p:cNvSpPr txBox="1"/>
          <p:nvPr/>
        </p:nvSpPr>
        <p:spPr>
          <a:xfrm>
            <a:off x="6409944" y="3978783"/>
            <a:ext cx="2130552" cy="365760"/>
          </a:xfrm>
          <a:prstGeom prst="rect">
            <a:avLst/>
          </a:prstGeom>
          <a:noFill/>
          <a:ln/>
        </p:spPr>
        <p:txBody>
          <a:bodyPr wrap="square" lIns="0" tIns="0" rIns="0" bIns="0" rtlCol="0" anchor="t"/>
          <a:lstStyle/>
          <a:p>
            <a:pPr marL="0" indent="0">
              <a:buNone/>
            </a:pPr>
            <a:r>
              <a:rPr lang="en-US" sz="1800" b="1" dirty="0">
                <a:solidFill>
                  <a:srgbClr val="14231B"/>
                </a:solidFill>
              </a:rPr>
              <a:t>Checkpoint</a:t>
            </a:r>
            <a:endParaRPr lang="en-US" sz="1800" dirty="0"/>
          </a:p>
        </p:txBody>
      </p:sp>
      <p:sp>
        <p:nvSpPr>
          <p:cNvPr id="18" name="Text 13"/>
          <p:cNvSpPr txBox="1"/>
          <p:nvPr/>
        </p:nvSpPr>
        <p:spPr>
          <a:xfrm>
            <a:off x="6409944" y="4399407"/>
            <a:ext cx="2130552" cy="1463040"/>
          </a:xfrm>
          <a:prstGeom prst="rect">
            <a:avLst/>
          </a:prstGeom>
          <a:noFill/>
          <a:ln/>
        </p:spPr>
        <p:txBody>
          <a:bodyPr wrap="square" lIns="0" tIns="0" rIns="0" bIns="0" rtlCol="0" anchor="t"/>
          <a:lstStyle/>
          <a:p>
            <a:pPr marL="0" indent="0">
              <a:buNone/>
            </a:pPr>
            <a:r>
              <a:rPr lang="en-US" sz="1300" dirty="0">
                <a:solidFill>
                  <a:srgbClr val="5A6D64"/>
                </a:solidFill>
              </a:rPr>
              <a:t>Four questions in two minutes. Secure answers earn points and patch the wall.</a:t>
            </a:r>
            <a:endParaRPr lang="en-US" sz="1300" dirty="0"/>
          </a:p>
        </p:txBody>
      </p:sp>
      <p:sp>
        <p:nvSpPr>
          <p:cNvPr id="19" name="step 4"/>
          <p:cNvSpPr/>
          <p:nvPr/>
        </p:nvSpPr>
        <p:spPr>
          <a:xfrm>
            <a:off x="8997696" y="1828800"/>
            <a:ext cx="2587752" cy="3886200"/>
          </a:xfrm>
          <a:prstGeom prst="roundRect">
            <a:avLst>
              <a:gd name="adj" fmla="val 2827"/>
            </a:avLst>
          </a:prstGeom>
          <a:solidFill>
            <a:srgbClr val="0E2A1F"/>
          </a:solidFill>
          <a:ln/>
        </p:spPr>
      </p:sp>
      <p:pic>
        <p:nvPicPr>
          <p:cNvPr id="20" name="step shot 4" descr="C:\Users\Vansh\AppData\Local\Temp\claude\C--Users-Vansh-Strath-Hack-26\1624dc5c-1046-4376-bbb9-cc5fa2a2dcb5\scratchpad\deck\shot-outcome.png"/>
          <p:cNvPicPr>
            <a:picLocks noChangeAspect="1"/>
          </p:cNvPicPr>
          <p:nvPr/>
        </p:nvPicPr>
        <p:blipFill>
          <a:blip r:embed="rId6"/>
          <a:stretch>
            <a:fillRect/>
          </a:stretch>
        </p:blipFill>
        <p:spPr>
          <a:xfrm>
            <a:off x="9134856" y="1965960"/>
            <a:ext cx="2313432" cy="1445895"/>
          </a:xfrm>
          <a:prstGeom prst="rect">
            <a:avLst/>
          </a:prstGeom>
        </p:spPr>
      </p:pic>
      <p:sp>
        <p:nvSpPr>
          <p:cNvPr id="21" name="Text 15"/>
          <p:cNvSpPr txBox="1"/>
          <p:nvPr/>
        </p:nvSpPr>
        <p:spPr>
          <a:xfrm>
            <a:off x="9226296" y="3594735"/>
            <a:ext cx="457200" cy="365760"/>
          </a:xfrm>
          <a:prstGeom prst="rect">
            <a:avLst/>
          </a:prstGeom>
          <a:noFill/>
          <a:ln/>
        </p:spPr>
        <p:txBody>
          <a:bodyPr wrap="square" lIns="0" tIns="0" rIns="0" bIns="0" rtlCol="0" anchor="t"/>
          <a:lstStyle/>
          <a:p>
            <a:pPr marL="0" indent="0">
              <a:buNone/>
            </a:pPr>
            <a:r>
              <a:rPr lang="en-US" sz="2000" b="1" dirty="0">
                <a:solidFill>
                  <a:srgbClr val="2EB872"/>
                </a:solidFill>
              </a:rPr>
              <a:t>4</a:t>
            </a:r>
            <a:endParaRPr lang="en-US" sz="2000" dirty="0"/>
          </a:p>
        </p:txBody>
      </p:sp>
      <p:sp>
        <p:nvSpPr>
          <p:cNvPr id="22" name="Text 16"/>
          <p:cNvSpPr txBox="1"/>
          <p:nvPr/>
        </p:nvSpPr>
        <p:spPr>
          <a:xfrm>
            <a:off x="9226296" y="3978783"/>
            <a:ext cx="2130552" cy="365760"/>
          </a:xfrm>
          <a:prstGeom prst="rect">
            <a:avLst/>
          </a:prstGeom>
          <a:noFill/>
          <a:ln/>
        </p:spPr>
        <p:txBody>
          <a:bodyPr wrap="square" lIns="0" tIns="0" rIns="0" bIns="0" rtlCol="0" anchor="t"/>
          <a:lstStyle/>
          <a:p>
            <a:pPr marL="0" indent="0">
              <a:buNone/>
            </a:pPr>
            <a:r>
              <a:rPr lang="en-US" sz="1800" b="1" dirty="0">
                <a:solidFill>
                  <a:srgbClr val="F3F6F1"/>
                </a:solidFill>
              </a:rPr>
              <a:t>Debrief</a:t>
            </a:r>
            <a:endParaRPr lang="en-US" sz="1800" dirty="0"/>
          </a:p>
        </p:txBody>
      </p:sp>
      <p:sp>
        <p:nvSpPr>
          <p:cNvPr id="23" name="Text 17"/>
          <p:cNvSpPr txBox="1"/>
          <p:nvPr/>
        </p:nvSpPr>
        <p:spPr>
          <a:xfrm>
            <a:off x="9226296" y="4399407"/>
            <a:ext cx="2130552" cy="1463040"/>
          </a:xfrm>
          <a:prstGeom prst="rect">
            <a:avLst/>
          </a:prstGeom>
          <a:noFill/>
          <a:ln/>
        </p:spPr>
        <p:txBody>
          <a:bodyPr wrap="square" lIns="0" tIns="0" rIns="0" bIns="0" rtlCol="0" anchor="t"/>
          <a:lstStyle/>
          <a:p>
            <a:pPr marL="0" indent="0">
              <a:buNone/>
            </a:pPr>
            <a:r>
              <a:rPr lang="en-US" sz="1300" dirty="0">
                <a:solidFill>
                  <a:srgbClr val="BFD6C8"/>
                </a:solidFill>
              </a:rPr>
              <a:t>Control score + behaviour points = total. A night report says what worked and what to change.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A6D6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2EB872"/>
                </a:solidFill>
              </a:rPr>
              <a:t>THE ATTACK</a:t>
            </a:r>
            <a:endParaRPr lang="en-US" sz="12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F3F6F1"/>
                </a:solidFill>
              </a:rPr>
              <a:t>One night, four phases</a:t>
            </a:r>
            <a:endParaRPr lang="en-US" sz="3400" dirty="0"/>
          </a:p>
        </p:txBody>
      </p:sp>
      <p:sp>
        <p:nvSpPr>
          <p:cNvPr id="4" name="phase line 1"/>
          <p:cNvSpPr/>
          <p:nvPr/>
        </p:nvSpPr>
        <p:spPr>
          <a:xfrm>
            <a:off x="548640" y="1874520"/>
            <a:ext cx="2587752" cy="0"/>
          </a:xfrm>
          <a:prstGeom prst="line">
            <a:avLst/>
          </a:prstGeom>
          <a:noFill/>
          <a:ln w="31750">
            <a:solidFill>
              <a:srgbClr val="2EB872"/>
            </a:solidFill>
            <a:prstDash val="solid"/>
          </a:ln>
        </p:spPr>
      </p:sp>
      <p:sp>
        <p:nvSpPr>
          <p:cNvPr id="5" name="Text 3"/>
          <p:cNvSpPr txBox="1"/>
          <p:nvPr/>
        </p:nvSpPr>
        <p:spPr>
          <a:xfrm>
            <a:off x="548640" y="2057400"/>
            <a:ext cx="2587752" cy="320040"/>
          </a:xfrm>
          <a:prstGeom prst="rect">
            <a:avLst/>
          </a:prstGeom>
          <a:noFill/>
          <a:ln/>
        </p:spPr>
        <p:txBody>
          <a:bodyPr wrap="square" lIns="0" tIns="0" rIns="0" bIns="0" rtlCol="0" anchor="t"/>
          <a:lstStyle/>
          <a:p>
            <a:pPr marL="0" indent="0">
              <a:buNone/>
            </a:pPr>
            <a:r>
              <a:rPr lang="en-US" sz="1600" b="1" dirty="0">
                <a:solidFill>
                  <a:srgbClr val="2EB872"/>
                </a:solidFill>
              </a:rPr>
              <a:t>Mon 16:40</a:t>
            </a:r>
            <a:endParaRPr lang="en-US" sz="1600" dirty="0"/>
          </a:p>
        </p:txBody>
      </p:sp>
      <p:sp>
        <p:nvSpPr>
          <p:cNvPr id="6" name="Text 4"/>
          <p:cNvSpPr txBox="1"/>
          <p:nvPr/>
        </p:nvSpPr>
        <p:spPr>
          <a:xfrm>
            <a:off x="548640" y="2423160"/>
            <a:ext cx="2587752" cy="685800"/>
          </a:xfrm>
          <a:prstGeom prst="rect">
            <a:avLst/>
          </a:prstGeom>
          <a:noFill/>
          <a:ln/>
        </p:spPr>
        <p:txBody>
          <a:bodyPr wrap="square" lIns="0" tIns="0" rIns="0" bIns="0" rtlCol="0" anchor="t"/>
          <a:lstStyle/>
          <a:p>
            <a:pPr marL="0" indent="0">
              <a:buNone/>
            </a:pPr>
            <a:r>
              <a:rPr lang="en-US" sz="2000" b="1" dirty="0">
                <a:solidFill>
                  <a:srgbClr val="F3F6F1"/>
                </a:solidFill>
              </a:rPr>
              <a:t>Delivery</a:t>
            </a:r>
            <a:endParaRPr lang="en-US" sz="2000" dirty="0"/>
          </a:p>
        </p:txBody>
      </p:sp>
      <p:sp>
        <p:nvSpPr>
          <p:cNvPr id="7" name="Text 5"/>
          <p:cNvSpPr txBox="1"/>
          <p:nvPr/>
        </p:nvSpPr>
        <p:spPr>
          <a:xfrm>
            <a:off x="548640" y="3154680"/>
            <a:ext cx="2587752" cy="822960"/>
          </a:xfrm>
          <a:prstGeom prst="rect">
            <a:avLst/>
          </a:prstGeom>
          <a:noFill/>
          <a:ln/>
        </p:spPr>
        <p:txBody>
          <a:bodyPr wrap="square" lIns="0" tIns="0" rIns="0" bIns="0" rtlCol="0" anchor="t"/>
          <a:lstStyle/>
          <a:p>
            <a:pPr marL="0" indent="0">
              <a:buNone/>
            </a:pPr>
            <a:r>
              <a:rPr lang="en-US" sz="1400" dirty="0">
                <a:solidFill>
                  <a:srgbClr val="BFD6C8"/>
                </a:solidFill>
              </a:rPr>
              <a:t>A convincing email. Someone clicks.</a:t>
            </a:r>
            <a:endParaRPr lang="en-US" sz="1400" dirty="0"/>
          </a:p>
        </p:txBody>
      </p:sp>
      <p:sp>
        <p:nvSpPr>
          <p:cNvPr id="8" name="phase line 2"/>
          <p:cNvSpPr/>
          <p:nvPr/>
        </p:nvSpPr>
        <p:spPr>
          <a:xfrm>
            <a:off x="3364992" y="1874520"/>
            <a:ext cx="2587752" cy="0"/>
          </a:xfrm>
          <a:prstGeom prst="line">
            <a:avLst/>
          </a:prstGeom>
          <a:noFill/>
          <a:ln w="31750">
            <a:solidFill>
              <a:srgbClr val="6CB8EC"/>
            </a:solidFill>
            <a:prstDash val="solid"/>
          </a:ln>
        </p:spPr>
      </p:sp>
      <p:sp>
        <p:nvSpPr>
          <p:cNvPr id="9" name="Text 7"/>
          <p:cNvSpPr txBox="1"/>
          <p:nvPr/>
        </p:nvSpPr>
        <p:spPr>
          <a:xfrm>
            <a:off x="3364992" y="2057400"/>
            <a:ext cx="2587752" cy="320040"/>
          </a:xfrm>
          <a:prstGeom prst="rect">
            <a:avLst/>
          </a:prstGeom>
          <a:noFill/>
          <a:ln/>
        </p:spPr>
        <p:txBody>
          <a:bodyPr wrap="square" lIns="0" tIns="0" rIns="0" bIns="0" rtlCol="0" anchor="t"/>
          <a:lstStyle/>
          <a:p>
            <a:pPr marL="0" indent="0">
              <a:buNone/>
            </a:pPr>
            <a:r>
              <a:rPr lang="en-US" sz="1600" b="1" dirty="0">
                <a:solidFill>
                  <a:srgbClr val="6CB8EC"/>
                </a:solidFill>
              </a:rPr>
              <a:t>Tue 02:00</a:t>
            </a:r>
            <a:endParaRPr lang="en-US" sz="1600" dirty="0"/>
          </a:p>
        </p:txBody>
      </p:sp>
      <p:sp>
        <p:nvSpPr>
          <p:cNvPr id="10" name="Text 8"/>
          <p:cNvSpPr txBox="1"/>
          <p:nvPr/>
        </p:nvSpPr>
        <p:spPr>
          <a:xfrm>
            <a:off x="3364992" y="2423160"/>
            <a:ext cx="2587752" cy="685800"/>
          </a:xfrm>
          <a:prstGeom prst="rect">
            <a:avLst/>
          </a:prstGeom>
          <a:noFill/>
          <a:ln/>
        </p:spPr>
        <p:txBody>
          <a:bodyPr wrap="square" lIns="0" tIns="0" rIns="0" bIns="0" rtlCol="0" anchor="t"/>
          <a:lstStyle/>
          <a:p>
            <a:pPr marL="0" indent="0">
              <a:buNone/>
            </a:pPr>
            <a:r>
              <a:rPr lang="en-US" sz="2000" b="1" dirty="0">
                <a:solidFill>
                  <a:srgbClr val="F3F6F1"/>
                </a:solidFill>
              </a:rPr>
              <a:t>Discovery</a:t>
            </a:r>
            <a:endParaRPr lang="en-US" sz="2000" dirty="0"/>
          </a:p>
        </p:txBody>
      </p:sp>
      <p:sp>
        <p:nvSpPr>
          <p:cNvPr id="11" name="Text 9"/>
          <p:cNvSpPr txBox="1"/>
          <p:nvPr/>
        </p:nvSpPr>
        <p:spPr>
          <a:xfrm>
            <a:off x="3364992" y="3154680"/>
            <a:ext cx="2587752" cy="822960"/>
          </a:xfrm>
          <a:prstGeom prst="rect">
            <a:avLst/>
          </a:prstGeom>
          <a:noFill/>
          <a:ln/>
        </p:spPr>
        <p:txBody>
          <a:bodyPr wrap="square" lIns="0" tIns="0" rIns="0" bIns="0" rtlCol="0" anchor="t"/>
          <a:lstStyle/>
          <a:p>
            <a:pPr marL="0" indent="0">
              <a:buNone/>
            </a:pPr>
            <a:r>
              <a:rPr lang="en-US" sz="1400" dirty="0">
                <a:solidFill>
                  <a:srgbClr val="BFD6C8"/>
                </a:solidFill>
              </a:rPr>
              <a:t>The attacker explores while almost nobody is watching.</a:t>
            </a:r>
            <a:endParaRPr lang="en-US" sz="1400" dirty="0"/>
          </a:p>
        </p:txBody>
      </p:sp>
      <p:sp>
        <p:nvSpPr>
          <p:cNvPr id="12" name="phase line 3"/>
          <p:cNvSpPr/>
          <p:nvPr/>
        </p:nvSpPr>
        <p:spPr>
          <a:xfrm>
            <a:off x="6181344" y="1874520"/>
            <a:ext cx="2587752" cy="0"/>
          </a:xfrm>
          <a:prstGeom prst="line">
            <a:avLst/>
          </a:prstGeom>
          <a:noFill/>
          <a:ln w="31750">
            <a:solidFill>
              <a:srgbClr val="F0A24A"/>
            </a:solidFill>
            <a:prstDash val="solid"/>
          </a:ln>
        </p:spPr>
      </p:sp>
      <p:sp>
        <p:nvSpPr>
          <p:cNvPr id="13" name="Text 11"/>
          <p:cNvSpPr txBox="1"/>
          <p:nvPr/>
        </p:nvSpPr>
        <p:spPr>
          <a:xfrm>
            <a:off x="6181344" y="2057400"/>
            <a:ext cx="2587752" cy="320040"/>
          </a:xfrm>
          <a:prstGeom prst="rect">
            <a:avLst/>
          </a:prstGeom>
          <a:noFill/>
          <a:ln/>
        </p:spPr>
        <p:txBody>
          <a:bodyPr wrap="square" lIns="0" tIns="0" rIns="0" bIns="0" rtlCol="0" anchor="t"/>
          <a:lstStyle/>
          <a:p>
            <a:pPr marL="0" indent="0">
              <a:buNone/>
            </a:pPr>
            <a:r>
              <a:rPr lang="en-US" sz="1600" b="1" dirty="0">
                <a:solidFill>
                  <a:srgbClr val="F0A24A"/>
                </a:solidFill>
              </a:rPr>
              <a:t>Tue 03:30</a:t>
            </a:r>
            <a:endParaRPr lang="en-US" sz="1600" dirty="0"/>
          </a:p>
        </p:txBody>
      </p:sp>
      <p:sp>
        <p:nvSpPr>
          <p:cNvPr id="14" name="Text 12"/>
          <p:cNvSpPr txBox="1"/>
          <p:nvPr/>
        </p:nvSpPr>
        <p:spPr>
          <a:xfrm>
            <a:off x="6181344" y="2423160"/>
            <a:ext cx="2587752" cy="685800"/>
          </a:xfrm>
          <a:prstGeom prst="rect">
            <a:avLst/>
          </a:prstGeom>
          <a:noFill/>
          <a:ln/>
        </p:spPr>
        <p:txBody>
          <a:bodyPr wrap="square" lIns="0" tIns="0" rIns="0" bIns="0" rtlCol="0" anchor="t"/>
          <a:lstStyle/>
          <a:p>
            <a:pPr marL="0" indent="0">
              <a:buNone/>
            </a:pPr>
            <a:r>
              <a:rPr lang="en-US" sz="2000" b="1" dirty="0">
                <a:solidFill>
                  <a:srgbClr val="F3F6F1"/>
                </a:solidFill>
              </a:rPr>
              <a:t>Command and control</a:t>
            </a:r>
            <a:endParaRPr lang="en-US" sz="2000" dirty="0"/>
          </a:p>
        </p:txBody>
      </p:sp>
      <p:sp>
        <p:nvSpPr>
          <p:cNvPr id="15" name="Text 13"/>
          <p:cNvSpPr txBox="1"/>
          <p:nvPr/>
        </p:nvSpPr>
        <p:spPr>
          <a:xfrm>
            <a:off x="6181344" y="3154680"/>
            <a:ext cx="2587752" cy="822960"/>
          </a:xfrm>
          <a:prstGeom prst="rect">
            <a:avLst/>
          </a:prstGeom>
          <a:noFill/>
          <a:ln/>
        </p:spPr>
        <p:txBody>
          <a:bodyPr wrap="square" lIns="0" tIns="0" rIns="0" bIns="0" rtlCol="0" anchor="t"/>
          <a:lstStyle/>
          <a:p>
            <a:pPr marL="0" indent="0">
              <a:buNone/>
            </a:pPr>
            <a:r>
              <a:rPr lang="en-US" sz="1400" dirty="0">
                <a:solidFill>
                  <a:srgbClr val="BFD6C8"/>
                </a:solidFill>
              </a:rPr>
              <a:t>A call from "IT" asks the night desk for a sign-in code.</a:t>
            </a:r>
            <a:endParaRPr lang="en-US" sz="1400" dirty="0"/>
          </a:p>
        </p:txBody>
      </p:sp>
      <p:sp>
        <p:nvSpPr>
          <p:cNvPr id="16" name="phase line 4"/>
          <p:cNvSpPr/>
          <p:nvPr/>
        </p:nvSpPr>
        <p:spPr>
          <a:xfrm>
            <a:off x="8997696" y="1874520"/>
            <a:ext cx="2587752" cy="0"/>
          </a:xfrm>
          <a:prstGeom prst="line">
            <a:avLst/>
          </a:prstGeom>
          <a:noFill/>
          <a:ln w="31750">
            <a:solidFill>
              <a:srgbClr val="F3F6F1"/>
            </a:solidFill>
            <a:prstDash val="solid"/>
          </a:ln>
        </p:spPr>
      </p:sp>
      <p:sp>
        <p:nvSpPr>
          <p:cNvPr id="17" name="Text 15"/>
          <p:cNvSpPr txBox="1"/>
          <p:nvPr/>
        </p:nvSpPr>
        <p:spPr>
          <a:xfrm>
            <a:off x="8997696" y="2057400"/>
            <a:ext cx="2587752" cy="320040"/>
          </a:xfrm>
          <a:prstGeom prst="rect">
            <a:avLst/>
          </a:prstGeom>
          <a:noFill/>
          <a:ln/>
        </p:spPr>
        <p:txBody>
          <a:bodyPr wrap="square" lIns="0" tIns="0" rIns="0" bIns="0" rtlCol="0" anchor="t"/>
          <a:lstStyle/>
          <a:p>
            <a:pPr marL="0" indent="0">
              <a:buNone/>
            </a:pPr>
            <a:r>
              <a:rPr lang="en-US" sz="1600" b="1" dirty="0">
                <a:solidFill>
                  <a:srgbClr val="F3F6F1"/>
                </a:solidFill>
              </a:rPr>
              <a:t>Tue 06:30</a:t>
            </a:r>
            <a:endParaRPr lang="en-US" sz="1600" dirty="0"/>
          </a:p>
        </p:txBody>
      </p:sp>
      <p:sp>
        <p:nvSpPr>
          <p:cNvPr id="18" name="Text 16"/>
          <p:cNvSpPr txBox="1"/>
          <p:nvPr/>
        </p:nvSpPr>
        <p:spPr>
          <a:xfrm>
            <a:off x="8997696" y="2423160"/>
            <a:ext cx="2587752" cy="685800"/>
          </a:xfrm>
          <a:prstGeom prst="rect">
            <a:avLst/>
          </a:prstGeom>
          <a:noFill/>
          <a:ln/>
        </p:spPr>
        <p:txBody>
          <a:bodyPr wrap="square" lIns="0" tIns="0" rIns="0" bIns="0" rtlCol="0" anchor="t"/>
          <a:lstStyle/>
          <a:p>
            <a:pPr marL="0" indent="0">
              <a:buNone/>
            </a:pPr>
            <a:r>
              <a:rPr lang="en-US" sz="2000" b="1" dirty="0">
                <a:solidFill>
                  <a:srgbClr val="F3F6F1"/>
                </a:solidFill>
              </a:rPr>
              <a:t>Encryption and ransom</a:t>
            </a:r>
            <a:endParaRPr lang="en-US" sz="2000" dirty="0"/>
          </a:p>
        </p:txBody>
      </p:sp>
      <p:sp>
        <p:nvSpPr>
          <p:cNvPr id="19" name="Text 17"/>
          <p:cNvSpPr txBox="1"/>
          <p:nvPr/>
        </p:nvSpPr>
        <p:spPr>
          <a:xfrm>
            <a:off x="8997696" y="3154680"/>
            <a:ext cx="2587752" cy="822960"/>
          </a:xfrm>
          <a:prstGeom prst="rect">
            <a:avLst/>
          </a:prstGeom>
          <a:noFill/>
          <a:ln/>
        </p:spPr>
        <p:txBody>
          <a:bodyPr wrap="square" lIns="0" tIns="0" rIns="0" bIns="0" rtlCol="0" anchor="t"/>
          <a:lstStyle/>
          <a:p>
            <a:pPr marL="0" indent="0">
              <a:buNone/>
            </a:pPr>
            <a:r>
              <a:rPr lang="en-US" sz="1400" dirty="0">
                <a:solidFill>
                  <a:srgbClr val="BFD6C8"/>
                </a:solidFill>
              </a:rPr>
              <a:t>Files are locked just before the day shift.</a:t>
            </a:r>
            <a:endParaRPr lang="en-US" sz="1400" dirty="0"/>
          </a:p>
        </p:txBody>
      </p:sp>
      <p:sp>
        <p:nvSpPr>
          <p:cNvPr id="20" name="lesson"/>
          <p:cNvSpPr/>
          <p:nvPr/>
        </p:nvSpPr>
        <p:spPr>
          <a:xfrm>
            <a:off x="548640" y="4343400"/>
            <a:ext cx="11094415" cy="1463040"/>
          </a:xfrm>
          <a:prstGeom prst="roundRect">
            <a:avLst>
              <a:gd name="adj" fmla="val 5000"/>
            </a:avLst>
          </a:prstGeom>
          <a:solidFill>
            <a:srgbClr val="1D372C"/>
          </a:solidFill>
          <a:ln/>
        </p:spPr>
      </p:sp>
      <p:sp>
        <p:nvSpPr>
          <p:cNvPr id="21" name="Text 19"/>
          <p:cNvSpPr txBox="1"/>
          <p:nvPr/>
        </p:nvSpPr>
        <p:spPr>
          <a:xfrm>
            <a:off x="868680" y="4553712"/>
            <a:ext cx="2194560" cy="914400"/>
          </a:xfrm>
          <a:prstGeom prst="rect">
            <a:avLst/>
          </a:prstGeom>
          <a:noFill/>
          <a:ln/>
        </p:spPr>
        <p:txBody>
          <a:bodyPr wrap="square" lIns="0" tIns="0" rIns="0" bIns="0" rtlCol="0" anchor="t"/>
          <a:lstStyle/>
          <a:p>
            <a:pPr marL="0" indent="0">
              <a:buNone/>
            </a:pPr>
            <a:r>
              <a:rPr lang="en-US" sz="4800" b="1" dirty="0">
                <a:solidFill>
                  <a:srgbClr val="2EB872"/>
                </a:solidFill>
              </a:rPr>
              <a:t>9 vs 1</a:t>
            </a:r>
            <a:endParaRPr lang="en-US" sz="4800" dirty="0"/>
          </a:p>
        </p:txBody>
      </p:sp>
      <p:sp>
        <p:nvSpPr>
          <p:cNvPr id="22" name="Text 20"/>
          <p:cNvSpPr txBox="1"/>
          <p:nvPr/>
        </p:nvSpPr>
        <p:spPr>
          <a:xfrm>
            <a:off x="3200400" y="4572000"/>
            <a:ext cx="8168335" cy="1097280"/>
          </a:xfrm>
          <a:prstGeom prst="rect">
            <a:avLst/>
          </a:prstGeom>
          <a:noFill/>
          <a:ln/>
        </p:spPr>
        <p:txBody>
          <a:bodyPr wrap="square" lIns="0" tIns="0" rIns="0" bIns="0" rtlCol="0" anchor="t"/>
          <a:lstStyle/>
          <a:p>
            <a:pPr marL="0" indent="0">
              <a:buNone/>
            </a:pPr>
            <a:r>
              <a:rPr lang="en-US" sz="1600" dirty="0">
                <a:solidFill>
                  <a:srgbClr val="F3F6F1"/>
                </a:solidFill>
              </a:rPr>
              <a:t>The timing is the lesson. Most of the attack happens out of hours, so a 24/7 response team scores 9 points across the night where an office-hours team scores 1. Players feel why round-the-clock cover matters.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FD6C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0B7A43"/>
                </a:solidFill>
              </a:rPr>
              <a:t>THE QUESTIONS</a:t>
            </a:r>
            <a:endParaRPr lang="en-US" sz="12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31B"/>
                </a:solidFill>
              </a:rPr>
              <a:t>Your answers change the game</a:t>
            </a:r>
            <a:endParaRPr lang="en-US" sz="3400" dirty="0"/>
          </a:p>
        </p:txBody>
      </p:sp>
      <p:sp>
        <p:nvSpPr>
          <p:cNvPr id="4" name="Text 2"/>
          <p:cNvSpPr txBox="1"/>
          <p:nvPr/>
        </p:nvSpPr>
        <p:spPr>
          <a:xfrm>
            <a:off x="548640" y="1783080"/>
            <a:ext cx="1188720" cy="548640"/>
          </a:xfrm>
          <a:prstGeom prst="rect">
            <a:avLst/>
          </a:prstGeom>
          <a:noFill/>
          <a:ln/>
        </p:spPr>
        <p:txBody>
          <a:bodyPr wrap="square" lIns="0" tIns="0" rIns="0" bIns="0" rtlCol="0" anchor="t"/>
          <a:lstStyle/>
          <a:p>
            <a:pPr marL="0" indent="0">
              <a:buNone/>
            </a:pPr>
            <a:r>
              <a:rPr lang="en-US" sz="3000" b="1" dirty="0">
                <a:solidFill>
                  <a:srgbClr val="0B7A43"/>
                </a:solidFill>
              </a:rPr>
              <a:t>4</a:t>
            </a:r>
            <a:endParaRPr lang="en-US" sz="3000" dirty="0"/>
          </a:p>
        </p:txBody>
      </p:sp>
      <p:sp>
        <p:nvSpPr>
          <p:cNvPr id="5" name="Text 3"/>
          <p:cNvSpPr txBox="1"/>
          <p:nvPr/>
        </p:nvSpPr>
        <p:spPr>
          <a:xfrm>
            <a:off x="1828800" y="1828800"/>
            <a:ext cx="4572000" cy="868680"/>
          </a:xfrm>
          <a:prstGeom prst="rect">
            <a:avLst/>
          </a:prstGeom>
          <a:noFill/>
          <a:ln/>
        </p:spPr>
        <p:txBody>
          <a:bodyPr wrap="square" lIns="0" tIns="0" rIns="0" bIns="0" rtlCol="0" anchor="t"/>
          <a:lstStyle/>
          <a:p>
            <a:pPr marL="0" indent="0">
              <a:buNone/>
            </a:pPr>
            <a:r>
              <a:rPr lang="en-US" sz="1500" dirty="0">
                <a:solidFill>
                  <a:srgbClr val="14231B"/>
                </a:solidFill>
              </a:rPr>
              <a:t>questions per phase, picked to match what just happened, easiest first</a:t>
            </a:r>
            <a:endParaRPr lang="en-US" sz="1500" dirty="0"/>
          </a:p>
        </p:txBody>
      </p:sp>
      <p:sp>
        <p:nvSpPr>
          <p:cNvPr id="6" name="Text 4"/>
          <p:cNvSpPr txBox="1"/>
          <p:nvPr/>
        </p:nvSpPr>
        <p:spPr>
          <a:xfrm>
            <a:off x="548640" y="2770632"/>
            <a:ext cx="1188720" cy="548640"/>
          </a:xfrm>
          <a:prstGeom prst="rect">
            <a:avLst/>
          </a:prstGeom>
          <a:noFill/>
          <a:ln/>
        </p:spPr>
        <p:txBody>
          <a:bodyPr wrap="square" lIns="0" tIns="0" rIns="0" bIns="0" rtlCol="0" anchor="t"/>
          <a:lstStyle/>
          <a:p>
            <a:pPr marL="0" indent="0">
              <a:buNone/>
            </a:pPr>
            <a:r>
              <a:rPr lang="en-US" sz="3000" b="1" dirty="0">
                <a:solidFill>
                  <a:srgbClr val="0B7A43"/>
                </a:solidFill>
              </a:rPr>
              <a:t>+2</a:t>
            </a:r>
            <a:endParaRPr lang="en-US" sz="3000" dirty="0"/>
          </a:p>
        </p:txBody>
      </p:sp>
      <p:sp>
        <p:nvSpPr>
          <p:cNvPr id="7" name="Text 5"/>
          <p:cNvSpPr txBox="1"/>
          <p:nvPr/>
        </p:nvSpPr>
        <p:spPr>
          <a:xfrm>
            <a:off x="1828800" y="2816352"/>
            <a:ext cx="4572000" cy="868680"/>
          </a:xfrm>
          <a:prstGeom prst="rect">
            <a:avLst/>
          </a:prstGeom>
          <a:noFill/>
          <a:ln/>
        </p:spPr>
        <p:txBody>
          <a:bodyPr wrap="square" lIns="0" tIns="0" rIns="0" bIns="0" rtlCol="0" anchor="t"/>
          <a:lstStyle/>
          <a:p>
            <a:pPr marL="0" indent="0">
              <a:buNone/>
            </a:pPr>
            <a:r>
              <a:rPr lang="en-US" sz="1500" dirty="0">
                <a:solidFill>
                  <a:srgbClr val="14231B"/>
                </a:solidFill>
              </a:rPr>
              <a:t>points for a secure answer. Wrong or missed: 0, and the explanation still shows</a:t>
            </a:r>
            <a:endParaRPr lang="en-US" sz="1500" dirty="0"/>
          </a:p>
        </p:txBody>
      </p:sp>
      <p:sp>
        <p:nvSpPr>
          <p:cNvPr id="8" name="Text 6"/>
          <p:cNvSpPr txBox="1"/>
          <p:nvPr/>
        </p:nvSpPr>
        <p:spPr>
          <a:xfrm>
            <a:off x="548640" y="3758184"/>
            <a:ext cx="1188720" cy="548640"/>
          </a:xfrm>
          <a:prstGeom prst="rect">
            <a:avLst/>
          </a:prstGeom>
          <a:noFill/>
          <a:ln/>
        </p:spPr>
        <p:txBody>
          <a:bodyPr wrap="square" lIns="0" tIns="0" rIns="0" bIns="0" rtlCol="0" anchor="t"/>
          <a:lstStyle/>
          <a:p>
            <a:pPr marL="0" indent="0">
              <a:buNone/>
            </a:pPr>
            <a:r>
              <a:rPr lang="en-US" sz="3000" b="1" dirty="0">
                <a:solidFill>
                  <a:srgbClr val="0B7A43"/>
                </a:solidFill>
              </a:rPr>
              <a:t>2:00</a:t>
            </a:r>
            <a:endParaRPr lang="en-US" sz="3000" dirty="0"/>
          </a:p>
        </p:txBody>
      </p:sp>
      <p:sp>
        <p:nvSpPr>
          <p:cNvPr id="9" name="Text 7"/>
          <p:cNvSpPr txBox="1"/>
          <p:nvPr/>
        </p:nvSpPr>
        <p:spPr>
          <a:xfrm>
            <a:off x="1828800" y="3803904"/>
            <a:ext cx="4572000" cy="868680"/>
          </a:xfrm>
          <a:prstGeom prst="rect">
            <a:avLst/>
          </a:prstGeom>
          <a:noFill/>
          <a:ln/>
        </p:spPr>
        <p:txBody>
          <a:bodyPr wrap="square" lIns="0" tIns="0" rIns="0" bIns="0" rtlCol="0" anchor="t"/>
          <a:lstStyle/>
          <a:p>
            <a:pPr marL="0" indent="0">
              <a:buNone/>
            </a:pPr>
            <a:r>
              <a:rPr lang="en-US" sz="1500" dirty="0">
                <a:solidFill>
                  <a:srgbClr val="14231B"/>
                </a:solidFill>
              </a:rPr>
              <a:t>per checkpoint. The facilitator can pause the clock</a:t>
            </a:r>
            <a:endParaRPr lang="en-US" sz="1500" dirty="0"/>
          </a:p>
        </p:txBody>
      </p:sp>
      <p:sp>
        <p:nvSpPr>
          <p:cNvPr id="10" name="Text 8"/>
          <p:cNvSpPr txBox="1"/>
          <p:nvPr/>
        </p:nvSpPr>
        <p:spPr>
          <a:xfrm>
            <a:off x="548640" y="4745736"/>
            <a:ext cx="1188720" cy="548640"/>
          </a:xfrm>
          <a:prstGeom prst="rect">
            <a:avLst/>
          </a:prstGeom>
          <a:noFill/>
          <a:ln/>
        </p:spPr>
        <p:txBody>
          <a:bodyPr wrap="square" lIns="0" tIns="0" rIns="0" bIns="0" rtlCol="0" anchor="t"/>
          <a:lstStyle/>
          <a:p>
            <a:pPr marL="0" indent="0">
              <a:buNone/>
            </a:pPr>
            <a:r>
              <a:rPr lang="en-US" sz="3000" b="1" dirty="0">
                <a:solidFill>
                  <a:srgbClr val="0B7A43"/>
                </a:solidFill>
              </a:rPr>
              <a:t>30%</a:t>
            </a:r>
            <a:endParaRPr lang="en-US" sz="3000" dirty="0"/>
          </a:p>
        </p:txBody>
      </p:sp>
      <p:sp>
        <p:nvSpPr>
          <p:cNvPr id="11" name="Text 9"/>
          <p:cNvSpPr txBox="1"/>
          <p:nvPr/>
        </p:nvSpPr>
        <p:spPr>
          <a:xfrm>
            <a:off x="1828800" y="4791456"/>
            <a:ext cx="4572000" cy="868680"/>
          </a:xfrm>
          <a:prstGeom prst="rect">
            <a:avLst/>
          </a:prstGeom>
          <a:noFill/>
          <a:ln/>
        </p:spPr>
        <p:txBody>
          <a:bodyPr wrap="square" lIns="0" tIns="0" rIns="0" bIns="0" rtlCol="0" anchor="t"/>
          <a:lstStyle/>
          <a:p>
            <a:pPr marL="0" indent="0">
              <a:buNone/>
            </a:pPr>
            <a:r>
              <a:rPr lang="en-US" sz="1500" dirty="0">
                <a:solidFill>
                  <a:srgbClr val="14231B"/>
                </a:solidFill>
              </a:rPr>
              <a:t>Secure answers patch the wall: your people stop up to 30% of what got past your controls in the next phase</a:t>
            </a:r>
            <a:endParaRPr lang="en-US" sz="1500" dirty="0"/>
          </a:p>
        </p:txBody>
      </p:sp>
      <p:sp>
        <p:nvSpPr>
          <p:cNvPr id="12" name="example question"/>
          <p:cNvSpPr/>
          <p:nvPr/>
        </p:nvSpPr>
        <p:spPr>
          <a:xfrm>
            <a:off x="6675120" y="1783080"/>
            <a:ext cx="4967935" cy="2834640"/>
          </a:xfrm>
          <a:prstGeom prst="roundRect">
            <a:avLst>
              <a:gd name="adj" fmla="val 2581"/>
            </a:avLst>
          </a:prstGeom>
          <a:solidFill>
            <a:srgbClr val="0E2A1F"/>
          </a:solidFill>
          <a:ln/>
        </p:spPr>
      </p:sp>
      <p:sp>
        <p:nvSpPr>
          <p:cNvPr id="13" name="Text 11"/>
          <p:cNvSpPr txBox="1"/>
          <p:nvPr/>
        </p:nvSpPr>
        <p:spPr>
          <a:xfrm>
            <a:off x="6995160" y="2011680"/>
            <a:ext cx="4327855" cy="274320"/>
          </a:xfrm>
          <a:prstGeom prst="rect">
            <a:avLst/>
          </a:prstGeom>
          <a:noFill/>
          <a:ln/>
        </p:spPr>
        <p:txBody>
          <a:bodyPr wrap="square" lIns="0" tIns="0" rIns="0" bIns="0" rtlCol="0" anchor="t"/>
          <a:lstStyle/>
          <a:p>
            <a:pPr marL="0" indent="0">
              <a:buNone/>
            </a:pPr>
            <a:r>
              <a:rPr lang="en-US" sz="1100" b="1" kern="0" spc="100" dirty="0">
                <a:solidFill>
                  <a:srgbClr val="F0A24A"/>
                </a:solidFill>
              </a:rPr>
              <a:t>PHASE 3 · TUE 03:30 · MFA · PRESSURE TEST</a:t>
            </a:r>
            <a:endParaRPr lang="en-US" sz="1100" dirty="0"/>
          </a:p>
        </p:txBody>
      </p:sp>
      <p:sp>
        <p:nvSpPr>
          <p:cNvPr id="14" name="Text 12"/>
          <p:cNvSpPr txBox="1"/>
          <p:nvPr/>
        </p:nvSpPr>
        <p:spPr>
          <a:xfrm>
            <a:off x="6995160" y="2377440"/>
            <a:ext cx="4327855" cy="1097280"/>
          </a:xfrm>
          <a:prstGeom prst="rect">
            <a:avLst/>
          </a:prstGeom>
          <a:noFill/>
          <a:ln/>
        </p:spPr>
        <p:txBody>
          <a:bodyPr wrap="square" lIns="0" tIns="0" rIns="0" bIns="0" rtlCol="0" anchor="t"/>
          <a:lstStyle/>
          <a:p>
            <a:pPr marL="0" indent="0">
              <a:buNone/>
            </a:pPr>
            <a:r>
              <a:rPr lang="en-US" sz="1700" dirty="0">
                <a:solidFill>
                  <a:srgbClr val="F3F6F1"/>
                </a:solidFill>
              </a:rPr>
              <a:t>A caller from "technical support" is fixing your account. An MFA request appears and they ask you to approve it.</a:t>
            </a:r>
            <a:endParaRPr lang="en-US" sz="1700" dirty="0"/>
          </a:p>
        </p:txBody>
      </p:sp>
      <p:sp>
        <p:nvSpPr>
          <p:cNvPr id="15" name="Text 13"/>
          <p:cNvSpPr txBox="1"/>
          <p:nvPr/>
        </p:nvSpPr>
        <p:spPr>
          <a:xfrm>
            <a:off x="6995160" y="3520440"/>
            <a:ext cx="4327855" cy="548640"/>
          </a:xfrm>
          <a:prstGeom prst="rect">
            <a:avLst/>
          </a:prstGeom>
          <a:noFill/>
          <a:ln/>
        </p:spPr>
        <p:txBody>
          <a:bodyPr wrap="square" lIns="0" tIns="0" rIns="0" bIns="0" rtlCol="0" anchor="t"/>
          <a:lstStyle/>
          <a:p>
            <a:pPr marL="0" indent="0">
              <a:buNone/>
            </a:pPr>
            <a:r>
              <a:rPr lang="en-US" sz="1400" b="1" dirty="0">
                <a:solidFill>
                  <a:srgbClr val="2EB872"/>
                </a:solidFill>
              </a:rPr>
              <a:t>✓ Refuse, verify independently, and only approve requests you started yourself.</a:t>
            </a:r>
            <a:endParaRPr lang="en-US" sz="1400" dirty="0"/>
          </a:p>
        </p:txBody>
      </p:sp>
      <p:sp>
        <p:nvSpPr>
          <p:cNvPr id="16" name="Text 14"/>
          <p:cNvSpPr txBox="1"/>
          <p:nvPr/>
        </p:nvSpPr>
        <p:spPr>
          <a:xfrm>
            <a:off x="6995160" y="4069080"/>
            <a:ext cx="4327855" cy="411480"/>
          </a:xfrm>
          <a:prstGeom prst="rect">
            <a:avLst/>
          </a:prstGeom>
          <a:noFill/>
          <a:ln/>
        </p:spPr>
        <p:txBody>
          <a:bodyPr wrap="square" lIns="0" tIns="0" rIns="0" bIns="0" rtlCol="0" anchor="t"/>
          <a:lstStyle/>
          <a:p>
            <a:pPr marL="0" indent="0">
              <a:buNone/>
            </a:pPr>
            <a:r>
              <a:rPr lang="en-US" sz="1300" dirty="0">
                <a:solidFill>
                  <a:srgbClr val="BFD6C8"/>
                </a:solidFill>
              </a:rPr>
              <a:t>It lands straight after the story's fake IT call, so the lesson sticks.</a:t>
            </a:r>
            <a:endParaRPr lang="en-US" sz="1300" dirty="0"/>
          </a:p>
        </p:txBody>
      </p:sp>
      <p:sp>
        <p:nvSpPr>
          <p:cNvPr id="17" name="Text 15"/>
          <p:cNvSpPr txBox="1"/>
          <p:nvPr/>
        </p:nvSpPr>
        <p:spPr>
          <a:xfrm>
            <a:off x="6675120" y="4892040"/>
            <a:ext cx="4967935" cy="685800"/>
          </a:xfrm>
          <a:prstGeom prst="rect">
            <a:avLst/>
          </a:prstGeom>
          <a:noFill/>
          <a:ln/>
        </p:spPr>
        <p:txBody>
          <a:bodyPr wrap="square" lIns="0" tIns="0" rIns="0" bIns="0" rtlCol="0" anchor="t"/>
          <a:lstStyle/>
          <a:p>
            <a:pPr marL="0" indent="0">
              <a:buNone/>
            </a:pPr>
            <a:r>
              <a:rPr lang="en-US" sz="1300" dirty="0">
                <a:solidFill>
                  <a:srgbClr val="5A6D64"/>
                </a:solidFill>
              </a:rPr>
              <a:t>Behaviour points are kept separate from the control score, which always comes from ScottishPower's own scoring module.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A6D6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2EB872"/>
                </a:solidFill>
              </a:rPr>
              <a:t>STRETCH · MULTIPLAYER</a:t>
            </a:r>
            <a:endParaRPr lang="en-US" sz="12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F3F6F1"/>
                </a:solidFill>
              </a:rPr>
              <a:t>Team battle: whose wall holds?</a:t>
            </a:r>
            <a:endParaRPr lang="en-US" sz="3400" dirty="0"/>
          </a:p>
        </p:txBody>
      </p:sp>
      <p:sp>
        <p:nvSpPr>
          <p:cNvPr id="4" name="dot 1"/>
          <p:cNvSpPr/>
          <p:nvPr/>
        </p:nvSpPr>
        <p:spPr>
          <a:xfrm>
            <a:off x="548640" y="1828800"/>
            <a:ext cx="384048" cy="384048"/>
          </a:xfrm>
          <a:prstGeom prst="ellipse">
            <a:avLst/>
          </a:prstGeom>
          <a:solidFill>
            <a:srgbClr val="2EB872"/>
          </a:solidFill>
          <a:ln/>
        </p:spPr>
      </p:sp>
      <p:sp>
        <p:nvSpPr>
          <p:cNvPr id="5" name="Text 3"/>
          <p:cNvSpPr txBox="1"/>
          <p:nvPr/>
        </p:nvSpPr>
        <p:spPr>
          <a:xfrm>
            <a:off x="548640" y="1856232"/>
            <a:ext cx="384048" cy="329184"/>
          </a:xfrm>
          <a:prstGeom prst="rect">
            <a:avLst/>
          </a:prstGeom>
          <a:noFill/>
          <a:ln/>
        </p:spPr>
        <p:txBody>
          <a:bodyPr wrap="square" lIns="0" tIns="0" rIns="0" bIns="0" rtlCol="0" anchor="t"/>
          <a:lstStyle/>
          <a:p>
            <a:pPr marL="0" indent="0" algn="ctr">
              <a:buNone/>
            </a:pPr>
            <a:r>
              <a:rPr lang="en-US" sz="1400" b="1" dirty="0">
                <a:solidFill>
                  <a:srgbClr val="0E2A1F"/>
                </a:solidFill>
              </a:rPr>
              <a:t>1</a:t>
            </a:r>
            <a:endParaRPr lang="en-US" sz="1400" dirty="0"/>
          </a:p>
        </p:txBody>
      </p:sp>
      <p:sp>
        <p:nvSpPr>
          <p:cNvPr id="6" name="Text 4"/>
          <p:cNvSpPr txBox="1"/>
          <p:nvPr/>
        </p:nvSpPr>
        <p:spPr>
          <a:xfrm>
            <a:off x="1097280" y="1783080"/>
            <a:ext cx="4206240" cy="365760"/>
          </a:xfrm>
          <a:prstGeom prst="rect">
            <a:avLst/>
          </a:prstGeom>
          <a:noFill/>
          <a:ln/>
        </p:spPr>
        <p:txBody>
          <a:bodyPr wrap="square" lIns="0" tIns="0" rIns="0" bIns="0" rtlCol="0" anchor="t"/>
          <a:lstStyle/>
          <a:p>
            <a:pPr marL="0" indent="0">
              <a:buNone/>
            </a:pPr>
            <a:r>
              <a:rPr lang="en-US" sz="1800" b="1" dirty="0">
                <a:solidFill>
                  <a:srgbClr val="F3F6F1"/>
                </a:solidFill>
              </a:rPr>
              <a:t>Up to 15 teams</a:t>
            </a:r>
            <a:endParaRPr lang="en-US" sz="1800" dirty="0"/>
          </a:p>
        </p:txBody>
      </p:sp>
      <p:sp>
        <p:nvSpPr>
          <p:cNvPr id="7" name="Text 5"/>
          <p:cNvSpPr txBox="1"/>
          <p:nvPr/>
        </p:nvSpPr>
        <p:spPr>
          <a:xfrm>
            <a:off x="1097280" y="2167128"/>
            <a:ext cx="4206240" cy="548640"/>
          </a:xfrm>
          <a:prstGeom prst="rect">
            <a:avLst/>
          </a:prstGeom>
          <a:noFill/>
          <a:ln/>
        </p:spPr>
        <p:txBody>
          <a:bodyPr wrap="square" lIns="0" tIns="0" rIns="0" bIns="0" rtlCol="0" anchor="t"/>
          <a:lstStyle/>
          <a:p>
            <a:pPr marL="0" indent="0">
              <a:buNone/>
            </a:pPr>
            <a:r>
              <a:rPr lang="en-US" sz="1400" dirty="0">
                <a:solidFill>
                  <a:srgbClr val="BFD6C8"/>
                </a:solidFill>
              </a:rPr>
              <a:t>join one room from their phones with a code and a team name</a:t>
            </a:r>
            <a:endParaRPr lang="en-US" sz="1400" dirty="0"/>
          </a:p>
        </p:txBody>
      </p:sp>
      <p:sp>
        <p:nvSpPr>
          <p:cNvPr id="8" name="dot 2"/>
          <p:cNvSpPr/>
          <p:nvPr/>
        </p:nvSpPr>
        <p:spPr>
          <a:xfrm>
            <a:off x="548640" y="2816352"/>
            <a:ext cx="384048" cy="384048"/>
          </a:xfrm>
          <a:prstGeom prst="ellipse">
            <a:avLst/>
          </a:prstGeom>
          <a:solidFill>
            <a:srgbClr val="2EB872"/>
          </a:solidFill>
          <a:ln/>
        </p:spPr>
      </p:sp>
      <p:sp>
        <p:nvSpPr>
          <p:cNvPr id="9" name="Text 7"/>
          <p:cNvSpPr txBox="1"/>
          <p:nvPr/>
        </p:nvSpPr>
        <p:spPr>
          <a:xfrm>
            <a:off x="548640" y="2843784"/>
            <a:ext cx="384048" cy="329184"/>
          </a:xfrm>
          <a:prstGeom prst="rect">
            <a:avLst/>
          </a:prstGeom>
          <a:noFill/>
          <a:ln/>
        </p:spPr>
        <p:txBody>
          <a:bodyPr wrap="square" lIns="0" tIns="0" rIns="0" bIns="0" rtlCol="0" anchor="t"/>
          <a:lstStyle/>
          <a:p>
            <a:pPr marL="0" indent="0" algn="ctr">
              <a:buNone/>
            </a:pPr>
            <a:r>
              <a:rPr lang="en-US" sz="1400" b="1" dirty="0">
                <a:solidFill>
                  <a:srgbClr val="0E2A1F"/>
                </a:solidFill>
              </a:rPr>
              <a:t>2</a:t>
            </a:r>
            <a:endParaRPr lang="en-US" sz="1400" dirty="0"/>
          </a:p>
        </p:txBody>
      </p:sp>
      <p:sp>
        <p:nvSpPr>
          <p:cNvPr id="10" name="Text 8"/>
          <p:cNvSpPr txBox="1"/>
          <p:nvPr/>
        </p:nvSpPr>
        <p:spPr>
          <a:xfrm>
            <a:off x="1097280" y="2770632"/>
            <a:ext cx="4206240" cy="365760"/>
          </a:xfrm>
          <a:prstGeom prst="rect">
            <a:avLst/>
          </a:prstGeom>
          <a:noFill/>
          <a:ln/>
        </p:spPr>
        <p:txBody>
          <a:bodyPr wrap="square" lIns="0" tIns="0" rIns="0" bIns="0" rtlCol="0" anchor="t"/>
          <a:lstStyle/>
          <a:p>
            <a:pPr marL="0" indent="0">
              <a:buNone/>
            </a:pPr>
            <a:r>
              <a:rPr lang="en-US" sz="1800" b="1" dirty="0">
                <a:solidFill>
                  <a:srgbClr val="F3F6F1"/>
                </a:solidFill>
              </a:rPr>
              <a:t>2+ players a team</a:t>
            </a:r>
            <a:endParaRPr lang="en-US" sz="1800" dirty="0"/>
          </a:p>
        </p:txBody>
      </p:sp>
      <p:sp>
        <p:nvSpPr>
          <p:cNvPr id="11" name="Text 9"/>
          <p:cNvSpPr txBox="1"/>
          <p:nvPr/>
        </p:nvSpPr>
        <p:spPr>
          <a:xfrm>
            <a:off x="1097280" y="3154680"/>
            <a:ext cx="4206240" cy="548640"/>
          </a:xfrm>
          <a:prstGeom prst="rect">
            <a:avLst/>
          </a:prstGeom>
          <a:noFill/>
          <a:ln/>
        </p:spPr>
        <p:txBody>
          <a:bodyPr wrap="square" lIns="0" tIns="0" rIns="0" bIns="0" rtlCol="0" anchor="t"/>
          <a:lstStyle/>
          <a:p>
            <a:pPr marL="0" indent="0">
              <a:buNone/>
            </a:pPr>
            <a:r>
              <a:rPr lang="en-US" sz="1400" dirty="0">
                <a:solidFill>
                  <a:srgbClr val="BFD6C8"/>
                </a:solidFill>
              </a:rPr>
              <a:t>each team gets its own £3m and splits Prevent, Detect and Respond</a:t>
            </a:r>
            <a:endParaRPr lang="en-US" sz="1400" dirty="0"/>
          </a:p>
        </p:txBody>
      </p:sp>
      <p:sp>
        <p:nvSpPr>
          <p:cNvPr id="12" name="dot 3"/>
          <p:cNvSpPr/>
          <p:nvPr/>
        </p:nvSpPr>
        <p:spPr>
          <a:xfrm>
            <a:off x="548640" y="3803904"/>
            <a:ext cx="384048" cy="384048"/>
          </a:xfrm>
          <a:prstGeom prst="ellipse">
            <a:avLst/>
          </a:prstGeom>
          <a:solidFill>
            <a:srgbClr val="2EB872"/>
          </a:solidFill>
          <a:ln/>
        </p:spPr>
      </p:sp>
      <p:sp>
        <p:nvSpPr>
          <p:cNvPr id="13" name="Text 11"/>
          <p:cNvSpPr txBox="1"/>
          <p:nvPr/>
        </p:nvSpPr>
        <p:spPr>
          <a:xfrm>
            <a:off x="548640" y="3831336"/>
            <a:ext cx="384048" cy="329184"/>
          </a:xfrm>
          <a:prstGeom prst="rect">
            <a:avLst/>
          </a:prstGeom>
          <a:noFill/>
          <a:ln/>
        </p:spPr>
        <p:txBody>
          <a:bodyPr wrap="square" lIns="0" tIns="0" rIns="0" bIns="0" rtlCol="0" anchor="t"/>
          <a:lstStyle/>
          <a:p>
            <a:pPr marL="0" indent="0" algn="ctr">
              <a:buNone/>
            </a:pPr>
            <a:r>
              <a:rPr lang="en-US" sz="1400" b="1" dirty="0">
                <a:solidFill>
                  <a:srgbClr val="0E2A1F"/>
                </a:solidFill>
              </a:rPr>
              <a:t>3</a:t>
            </a:r>
            <a:endParaRPr lang="en-US" sz="1400" dirty="0"/>
          </a:p>
        </p:txBody>
      </p:sp>
      <p:sp>
        <p:nvSpPr>
          <p:cNvPr id="14" name="Text 12"/>
          <p:cNvSpPr txBox="1"/>
          <p:nvPr/>
        </p:nvSpPr>
        <p:spPr>
          <a:xfrm>
            <a:off x="1097280" y="3758184"/>
            <a:ext cx="4206240" cy="365760"/>
          </a:xfrm>
          <a:prstGeom prst="rect">
            <a:avLst/>
          </a:prstGeom>
          <a:noFill/>
          <a:ln/>
        </p:spPr>
        <p:txBody>
          <a:bodyPr wrap="square" lIns="0" tIns="0" rIns="0" bIns="0" rtlCol="0" anchor="t"/>
          <a:lstStyle/>
          <a:p>
            <a:pPr marL="0" indent="0">
              <a:buNone/>
            </a:pPr>
            <a:r>
              <a:rPr lang="en-US" sz="1800" b="1" dirty="0">
                <a:solidFill>
                  <a:srgbClr val="F3F6F1"/>
                </a:solidFill>
              </a:rPr>
              <a:t>Same attacks</a:t>
            </a:r>
            <a:endParaRPr lang="en-US" sz="1800" dirty="0"/>
          </a:p>
        </p:txBody>
      </p:sp>
      <p:sp>
        <p:nvSpPr>
          <p:cNvPr id="15" name="Text 13"/>
          <p:cNvSpPr txBox="1"/>
          <p:nvPr/>
        </p:nvSpPr>
        <p:spPr>
          <a:xfrm>
            <a:off x="1097280" y="4142232"/>
            <a:ext cx="4206240" cy="548640"/>
          </a:xfrm>
          <a:prstGeom prst="rect">
            <a:avLst/>
          </a:prstGeom>
          <a:noFill/>
          <a:ln/>
        </p:spPr>
        <p:txBody>
          <a:bodyPr wrap="square" lIns="0" tIns="0" rIns="0" bIns="0" rtlCol="0" anchor="t"/>
          <a:lstStyle/>
          <a:p>
            <a:pPr marL="0" indent="0">
              <a:buNone/>
            </a:pPr>
            <a:r>
              <a:rPr lang="en-US" sz="1400" dirty="0">
                <a:solidFill>
                  <a:srgbClr val="BFD6C8"/>
                </a:solidFill>
              </a:rPr>
              <a:t>the host runs one night: every wall faces the same 40 attacks</a:t>
            </a:r>
            <a:endParaRPr lang="en-US" sz="1400" dirty="0"/>
          </a:p>
        </p:txBody>
      </p:sp>
      <p:sp>
        <p:nvSpPr>
          <p:cNvPr id="16" name="dot 4"/>
          <p:cNvSpPr/>
          <p:nvPr/>
        </p:nvSpPr>
        <p:spPr>
          <a:xfrm>
            <a:off x="548640" y="4791456"/>
            <a:ext cx="384048" cy="384048"/>
          </a:xfrm>
          <a:prstGeom prst="ellipse">
            <a:avLst/>
          </a:prstGeom>
          <a:solidFill>
            <a:srgbClr val="2EB872"/>
          </a:solidFill>
          <a:ln/>
        </p:spPr>
      </p:sp>
      <p:sp>
        <p:nvSpPr>
          <p:cNvPr id="17" name="Text 15"/>
          <p:cNvSpPr txBox="1"/>
          <p:nvPr/>
        </p:nvSpPr>
        <p:spPr>
          <a:xfrm>
            <a:off x="548640" y="4818888"/>
            <a:ext cx="384048" cy="329184"/>
          </a:xfrm>
          <a:prstGeom prst="rect">
            <a:avLst/>
          </a:prstGeom>
          <a:noFill/>
          <a:ln/>
        </p:spPr>
        <p:txBody>
          <a:bodyPr wrap="square" lIns="0" tIns="0" rIns="0" bIns="0" rtlCol="0" anchor="t"/>
          <a:lstStyle/>
          <a:p>
            <a:pPr marL="0" indent="0" algn="ctr">
              <a:buNone/>
            </a:pPr>
            <a:r>
              <a:rPr lang="en-US" sz="1400" b="1" dirty="0">
                <a:solidFill>
                  <a:srgbClr val="0E2A1F"/>
                </a:solidFill>
              </a:rPr>
              <a:t>4</a:t>
            </a:r>
            <a:endParaRPr lang="en-US" sz="1400" dirty="0"/>
          </a:p>
        </p:txBody>
      </p:sp>
      <p:sp>
        <p:nvSpPr>
          <p:cNvPr id="18" name="Text 16"/>
          <p:cNvSpPr txBox="1"/>
          <p:nvPr/>
        </p:nvSpPr>
        <p:spPr>
          <a:xfrm>
            <a:off x="1097280" y="4745736"/>
            <a:ext cx="4206240" cy="365760"/>
          </a:xfrm>
          <a:prstGeom prst="rect">
            <a:avLst/>
          </a:prstGeom>
          <a:noFill/>
          <a:ln/>
        </p:spPr>
        <p:txBody>
          <a:bodyPr wrap="square" lIns="0" tIns="0" rIns="0" bIns="0" rtlCol="0" anchor="t"/>
          <a:lstStyle/>
          <a:p>
            <a:pPr marL="0" indent="0">
              <a:buNone/>
            </a:pPr>
            <a:r>
              <a:rPr lang="en-US" sz="1800" b="1" dirty="0">
                <a:solidFill>
                  <a:srgbClr val="F3F6F1"/>
                </a:solidFill>
              </a:rPr>
              <a:t>Fair and safe</a:t>
            </a:r>
            <a:endParaRPr lang="en-US" sz="1800" dirty="0"/>
          </a:p>
        </p:txBody>
      </p:sp>
      <p:sp>
        <p:nvSpPr>
          <p:cNvPr id="19" name="Text 17"/>
          <p:cNvSpPr txBox="1"/>
          <p:nvPr/>
        </p:nvSpPr>
        <p:spPr>
          <a:xfrm>
            <a:off x="1097280" y="5129784"/>
            <a:ext cx="4206240" cy="548640"/>
          </a:xfrm>
          <a:prstGeom prst="rect">
            <a:avLst/>
          </a:prstGeom>
          <a:noFill/>
          <a:ln/>
        </p:spPr>
        <p:txBody>
          <a:bodyPr wrap="square" lIns="0" tIns="0" rIns="0" bIns="0" rtlCol="0" anchor="t"/>
          <a:lstStyle/>
          <a:p>
            <a:pPr marL="0" indent="0">
              <a:buNone/>
            </a:pPr>
            <a:r>
              <a:rPr lang="en-US" sz="1400" dirty="0">
                <a:solidFill>
                  <a:srgbClr val="BFD6C8"/>
                </a:solidFill>
              </a:rPr>
              <a:t>the room locks when the night starts; players who leave or drop are never ghosts</a:t>
            </a:r>
            <a:endParaRPr lang="en-US" sz="1400" dirty="0"/>
          </a:p>
        </p:txBody>
      </p:sp>
      <p:sp>
        <p:nvSpPr>
          <p:cNvPr id="20" name="frame shot-team-reveal.png"/>
          <p:cNvSpPr/>
          <p:nvPr/>
        </p:nvSpPr>
        <p:spPr>
          <a:xfrm>
            <a:off x="5449824" y="1746504"/>
            <a:ext cx="6227064" cy="3919347"/>
          </a:xfrm>
          <a:prstGeom prst="roundRect">
            <a:avLst>
              <a:gd name="adj" fmla="val 1400"/>
            </a:avLst>
          </a:prstGeom>
          <a:solidFill>
            <a:srgbClr val="334E43"/>
          </a:solidFill>
          <a:ln/>
        </p:spPr>
      </p:sp>
      <p:pic>
        <p:nvPicPr>
          <p:cNvPr id="21" name="screenshot shot-team-reveal.png" descr="C:\Users\Vansh\AppData\Local\Temp\claude\C--Users-Vansh-Strath-Hack-26\1624dc5c-1046-4376-bbb9-cc5fa2a2dcb5\scratchpad\deck\shot-team-reveal.png"/>
          <p:cNvPicPr>
            <a:picLocks noChangeAspect="1"/>
          </p:cNvPicPr>
          <p:nvPr/>
        </p:nvPicPr>
        <p:blipFill>
          <a:blip r:embed="rId3"/>
          <a:stretch>
            <a:fillRect/>
          </a:stretch>
        </p:blipFill>
        <p:spPr>
          <a:xfrm>
            <a:off x="5486400" y="1783080"/>
            <a:ext cx="6153912" cy="384619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FD6C8"/>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2EB872"/>
                </a:solidFill>
              </a:rPr>
              <a:t>LIVE DEMO</a:t>
            </a:r>
            <a:endParaRPr lang="en-US" sz="12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F3F6F1"/>
                </a:solidFill>
              </a:rPr>
              <a:t>Let's play it</a:t>
            </a:r>
            <a:endParaRPr lang="en-US" sz="3400" dirty="0"/>
          </a:p>
        </p:txBody>
      </p:sp>
      <p:sp>
        <p:nvSpPr>
          <p:cNvPr id="4" name="Text 2"/>
          <p:cNvSpPr txBox="1"/>
          <p:nvPr/>
        </p:nvSpPr>
        <p:spPr>
          <a:xfrm>
            <a:off x="548640" y="1783080"/>
            <a:ext cx="5120640" cy="384048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700" dirty="0">
                <a:solidFill>
                  <a:srgbClr val="F3F6F1"/>
                </a:solidFill>
              </a:rPr>
              <a:t>Host opens a room on the big screen</a:t>
            </a:r>
            <a:endParaRPr lang="en-US" sz="1700" dirty="0"/>
          </a:p>
          <a:p>
            <a:pPr marL="342900" indent="-342900">
              <a:spcAft>
                <a:spcPts val="800"/>
              </a:spcAft>
              <a:buSzPct val="100000"/>
              <a:buFont typeface="+mj-lt"/>
              <a:buAutoNum type="arabicPeriod"/>
            </a:pPr>
            <a:r>
              <a:rPr lang="en-US" sz="1700" dirty="0">
                <a:solidFill>
                  <a:srgbClr val="F3F6F1"/>
                </a:solidFill>
              </a:rPr>
              <a:t>Two teams join from phones: Red and Blue</a:t>
            </a:r>
            <a:endParaRPr lang="en-US" sz="1700" dirty="0"/>
          </a:p>
          <a:p>
            <a:pPr marL="342900" indent="-342900">
              <a:spcAft>
                <a:spcPts val="800"/>
              </a:spcAft>
              <a:buSzPct val="100000"/>
              <a:buFont typeface="+mj-lt"/>
              <a:buAutoNum type="arabicPeriod"/>
            </a:pPr>
            <a:r>
              <a:rPr lang="en-US" sz="1700" dirty="0">
                <a:solidFill>
                  <a:srgbClr val="F3F6F1"/>
                </a:solidFill>
              </a:rPr>
              <a:t>Each team buys its defences; one refused buy shows the rules</a:t>
            </a:r>
            <a:endParaRPr lang="en-US" sz="1700" dirty="0"/>
          </a:p>
          <a:p>
            <a:pPr marL="342900" indent="-342900">
              <a:spcAft>
                <a:spcPts val="800"/>
              </a:spcAft>
              <a:buSzPct val="100000"/>
              <a:buFont typeface="+mj-lt"/>
              <a:buAutoNum type="arabicPeriod"/>
            </a:pPr>
            <a:r>
              <a:rPr lang="en-US" sz="1700" dirty="0">
                <a:solidFill>
                  <a:srgbClr val="F3F6F1"/>
                </a:solidFill>
              </a:rPr>
              <a:t>Lock the plans: the room locks too</a:t>
            </a:r>
            <a:endParaRPr lang="en-US" sz="1700" dirty="0"/>
          </a:p>
          <a:p>
            <a:pPr marL="342900" indent="-342900">
              <a:spcAft>
                <a:spcPts val="800"/>
              </a:spcAft>
              <a:buSzPct val="100000"/>
              <a:buFont typeface="+mj-lt"/>
              <a:buAutoNum type="arabicPeriod"/>
            </a:pPr>
            <a:r>
              <a:rPr lang="en-US" sz="1700" dirty="0">
                <a:solidFill>
                  <a:srgbClr val="F3F6F1"/>
                </a:solidFill>
              </a:rPr>
              <a:t>Reveal phase 1: whose wall held?</a:t>
            </a:r>
            <a:endParaRPr lang="en-US" sz="1700" dirty="0"/>
          </a:p>
          <a:p>
            <a:pPr marL="342900" indent="-342900">
              <a:spcAft>
                <a:spcPts val="800"/>
              </a:spcAft>
              <a:buSzPct val="100000"/>
              <a:buFont typeface="+mj-lt"/>
              <a:buAutoNum type="arabicPeriod"/>
            </a:pPr>
            <a:r>
              <a:rPr lang="en-US" sz="1700" dirty="0">
                <a:solidFill>
                  <a:srgbClr val="F3F6F1"/>
                </a:solidFill>
              </a:rPr>
              <a:t>One checkpoint answer patches the wall</a:t>
            </a:r>
            <a:endParaRPr lang="en-US" sz="1700" dirty="0"/>
          </a:p>
          <a:p>
            <a:pPr marL="342900" indent="-342900">
              <a:spcAft>
                <a:spcPts val="800"/>
              </a:spcAft>
              <a:buSzPct val="100000"/>
              <a:buFont typeface="+mj-lt"/>
              <a:buAutoNum type="arabicPeriod"/>
            </a:pPr>
            <a:r>
              <a:rPr lang="en-US" sz="1700" dirty="0">
                <a:solidFill>
                  <a:srgbClr val="F3F6F1"/>
                </a:solidFill>
              </a:rPr>
              <a:t>Jump to the podium and the night report</a:t>
            </a:r>
            <a:endParaRPr lang="en-US" sz="1700" dirty="0"/>
          </a:p>
        </p:txBody>
      </p:sp>
      <p:sp>
        <p:nvSpPr>
          <p:cNvPr id="5" name="frame shot-podium.png"/>
          <p:cNvSpPr/>
          <p:nvPr/>
        </p:nvSpPr>
        <p:spPr>
          <a:xfrm>
            <a:off x="5998464" y="1746504"/>
            <a:ext cx="5678424" cy="3576447"/>
          </a:xfrm>
          <a:prstGeom prst="roundRect">
            <a:avLst>
              <a:gd name="adj" fmla="val 1534"/>
            </a:avLst>
          </a:prstGeom>
          <a:solidFill>
            <a:srgbClr val="334E43"/>
          </a:solidFill>
          <a:ln/>
        </p:spPr>
      </p:sp>
      <p:pic>
        <p:nvPicPr>
          <p:cNvPr id="6" name="screenshot shot-podium.png" descr="C:\Users\Vansh\AppData\Local\Temp\claude\C--Users-Vansh-Strath-Hack-26\1624dc5c-1046-4376-bbb9-cc5fa2a2dcb5\scratchpad\deck\shot-podium.png"/>
          <p:cNvPicPr>
            <a:picLocks noChangeAspect="1"/>
          </p:cNvPicPr>
          <p:nvPr/>
        </p:nvPicPr>
        <p:blipFill>
          <a:blip r:embed="rId3"/>
          <a:stretch>
            <a:fillRect/>
          </a:stretch>
        </p:blipFill>
        <p:spPr>
          <a:xfrm>
            <a:off x="6035040" y="1783080"/>
            <a:ext cx="5605272" cy="3503295"/>
          </a:xfrm>
          <a:prstGeom prst="rect">
            <a:avLst/>
          </a:prstGeom>
        </p:spPr>
      </p:pic>
      <p:sp>
        <p:nvSpPr>
          <p:cNvPr id="7" name="Text 4"/>
          <p:cNvSpPr txBox="1"/>
          <p:nvPr/>
        </p:nvSpPr>
        <p:spPr>
          <a:xfrm>
            <a:off x="6035040" y="5440680"/>
            <a:ext cx="5605272" cy="365760"/>
          </a:xfrm>
          <a:prstGeom prst="rect">
            <a:avLst/>
          </a:prstGeom>
          <a:noFill/>
          <a:ln/>
        </p:spPr>
        <p:txBody>
          <a:bodyPr wrap="square" lIns="0" tIns="0" rIns="0" bIns="0" rtlCol="0" anchor="t"/>
          <a:lstStyle/>
          <a:p>
            <a:pPr marL="0" indent="0">
              <a:buNone/>
            </a:pPr>
            <a:r>
              <a:rPr lang="en-US" sz="1500" dirty="0">
                <a:solidFill>
                  <a:srgbClr val="BFD6C8"/>
                </a:solidFill>
              </a:rPr>
              <a:t>Try it yourself: </a:t>
            </a:r>
            <a:r>
              <a:rPr lang="en-US" sz="1500" b="1" u="sng" dirty="0">
                <a:solidFill>
                  <a:srgbClr val="2EB872"/>
                </a:solidFill>
                <a:hlinkClick r:id="rId4">
                  <a:extLst>
                    <a:ext uri="{A12FA001-AC4F-418D-AE19-62706E023703}">
                      <ahyp:hlinkClr xmlns:ahyp="http://schemas.microsoft.com/office/drawing/2018/hyperlinkcolor" val="tx"/>
                    </a:ext>
                  </a:extLst>
                </a:hlinkClick>
              </a:rPr>
              <a:t>team-20-vglm.onrender.com</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FD6C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0B7A43"/>
                </a:solidFill>
              </a:rPr>
              <a:t>HOW IT IS BUILT</a:t>
            </a:r>
            <a:endParaRPr lang="en-US" sz="12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31B"/>
                </a:solidFill>
              </a:rPr>
              <a:t>One state per team, one place that changes it</a:t>
            </a:r>
            <a:endParaRPr lang="en-US" sz="3400" dirty="0"/>
          </a:p>
        </p:txBody>
      </p:sp>
      <p:sp>
        <p:nvSpPr>
          <p:cNvPr id="4" name="data"/>
          <p:cNvSpPr/>
          <p:nvPr/>
        </p:nvSpPr>
        <p:spPr>
          <a:xfrm>
            <a:off x="548640" y="1828800"/>
            <a:ext cx="2377440" cy="1325880"/>
          </a:xfrm>
          <a:prstGeom prst="roundRect">
            <a:avLst>
              <a:gd name="adj" fmla="val 5517"/>
            </a:avLst>
          </a:prstGeom>
          <a:solidFill>
            <a:srgbClr val="FFFFFF"/>
          </a:solidFill>
          <a:ln w="9525">
            <a:solidFill>
              <a:srgbClr val="C9D3CC"/>
            </a:solidFill>
            <a:prstDash val="solid"/>
          </a:ln>
        </p:spPr>
      </p:sp>
      <p:sp>
        <p:nvSpPr>
          <p:cNvPr id="5" name="Text 3"/>
          <p:cNvSpPr txBox="1"/>
          <p:nvPr/>
        </p:nvSpPr>
        <p:spPr>
          <a:xfrm>
            <a:off x="731520" y="1965960"/>
            <a:ext cx="2011680" cy="228600"/>
          </a:xfrm>
          <a:prstGeom prst="rect">
            <a:avLst/>
          </a:prstGeom>
          <a:noFill/>
          <a:ln/>
        </p:spPr>
        <p:txBody>
          <a:bodyPr wrap="square" lIns="0" tIns="0" rIns="0" bIns="0" rtlCol="0" anchor="t"/>
          <a:lstStyle/>
          <a:p>
            <a:pPr marL="0" indent="0">
              <a:buNone/>
            </a:pPr>
            <a:r>
              <a:rPr lang="en-US" sz="1000" b="1" kern="0" spc="100" dirty="0">
                <a:solidFill>
                  <a:srgbClr val="0B7A43"/>
                </a:solidFill>
              </a:rPr>
              <a:t>DATA · SUPPLIED</a:t>
            </a:r>
            <a:endParaRPr lang="en-US" sz="1000" dirty="0"/>
          </a:p>
        </p:txBody>
      </p:sp>
      <p:sp>
        <p:nvSpPr>
          <p:cNvPr id="6" name="Text 4"/>
          <p:cNvSpPr txBox="1"/>
          <p:nvPr/>
        </p:nvSpPr>
        <p:spPr>
          <a:xfrm>
            <a:off x="731520" y="2212848"/>
            <a:ext cx="2011680" cy="320040"/>
          </a:xfrm>
          <a:prstGeom prst="rect">
            <a:avLst/>
          </a:prstGeom>
          <a:noFill/>
          <a:ln/>
        </p:spPr>
        <p:txBody>
          <a:bodyPr wrap="square" lIns="0" tIns="0" rIns="0" bIns="0" rtlCol="0" anchor="t"/>
          <a:lstStyle/>
          <a:p>
            <a:pPr marL="0" indent="0">
              <a:buNone/>
            </a:pPr>
            <a:r>
              <a:rPr lang="en-US" sz="1500" b="1" dirty="0">
                <a:solidFill>
                  <a:srgbClr val="14231B"/>
                </a:solidFill>
              </a:rPr>
              <a:t>challenge.json</a:t>
            </a:r>
            <a:endParaRPr lang="en-US" sz="1500" dirty="0"/>
          </a:p>
        </p:txBody>
      </p:sp>
      <p:sp>
        <p:nvSpPr>
          <p:cNvPr id="7" name="Text 5"/>
          <p:cNvSpPr txBox="1"/>
          <p:nvPr/>
        </p:nvSpPr>
        <p:spPr>
          <a:xfrm>
            <a:off x="731520" y="2560320"/>
            <a:ext cx="2011680" cy="502920"/>
          </a:xfrm>
          <a:prstGeom prst="rect">
            <a:avLst/>
          </a:prstGeom>
          <a:noFill/>
          <a:ln/>
        </p:spPr>
        <p:txBody>
          <a:bodyPr wrap="square" lIns="0" tIns="0" rIns="0" bIns="0" rtlCol="0" anchor="t"/>
          <a:lstStyle/>
          <a:p>
            <a:pPr marL="0" indent="0">
              <a:buNone/>
            </a:pPr>
            <a:r>
              <a:rPr lang="en-US" sz="1200" dirty="0">
                <a:solidFill>
                  <a:srgbClr val="5A6D64"/>
                </a:solidFill>
              </a:rPr>
              <a:t>questions.json · the cyber team's content</a:t>
            </a:r>
            <a:endParaRPr lang="en-US" sz="1200" dirty="0"/>
          </a:p>
        </p:txBody>
      </p:sp>
      <p:sp>
        <p:nvSpPr>
          <p:cNvPr id="8" name="engine"/>
          <p:cNvSpPr/>
          <p:nvPr/>
        </p:nvSpPr>
        <p:spPr>
          <a:xfrm>
            <a:off x="3794760" y="1828800"/>
            <a:ext cx="4206240" cy="1325880"/>
          </a:xfrm>
          <a:prstGeom prst="roundRect">
            <a:avLst>
              <a:gd name="adj" fmla="val 5517"/>
            </a:avLst>
          </a:prstGeom>
          <a:solidFill>
            <a:srgbClr val="0E2A1F"/>
          </a:solidFill>
          <a:ln/>
        </p:spPr>
      </p:sp>
      <p:sp>
        <p:nvSpPr>
          <p:cNvPr id="9" name="Text 7"/>
          <p:cNvSpPr txBox="1"/>
          <p:nvPr/>
        </p:nvSpPr>
        <p:spPr>
          <a:xfrm>
            <a:off x="3977640" y="1965960"/>
            <a:ext cx="3840480" cy="228600"/>
          </a:xfrm>
          <a:prstGeom prst="rect">
            <a:avLst/>
          </a:prstGeom>
          <a:noFill/>
          <a:ln/>
        </p:spPr>
        <p:txBody>
          <a:bodyPr wrap="square" lIns="0" tIns="0" rIns="0" bIns="0" rtlCol="0" anchor="t"/>
          <a:lstStyle/>
          <a:p>
            <a:pPr marL="0" indent="0">
              <a:buNone/>
            </a:pPr>
            <a:r>
              <a:rPr lang="en-US" sz="1000" b="1" kern="0" spc="100" dirty="0">
                <a:solidFill>
                  <a:srgbClr val="2EB872"/>
                </a:solidFill>
              </a:rPr>
              <a:t>ENGINE · state.mjs</a:t>
            </a:r>
            <a:endParaRPr lang="en-US" sz="1000" dirty="0"/>
          </a:p>
        </p:txBody>
      </p:sp>
      <p:sp>
        <p:nvSpPr>
          <p:cNvPr id="10" name="Text 8"/>
          <p:cNvSpPr txBox="1"/>
          <p:nvPr/>
        </p:nvSpPr>
        <p:spPr>
          <a:xfrm>
            <a:off x="3977640" y="2212848"/>
            <a:ext cx="3840480" cy="320040"/>
          </a:xfrm>
          <a:prstGeom prst="rect">
            <a:avLst/>
          </a:prstGeom>
          <a:noFill/>
          <a:ln/>
        </p:spPr>
        <p:txBody>
          <a:bodyPr wrap="square" lIns="0" tIns="0" rIns="0" bIns="0" rtlCol="0" anchor="t"/>
          <a:lstStyle/>
          <a:p>
            <a:pPr marL="0" indent="0">
              <a:buNone/>
            </a:pPr>
            <a:r>
              <a:rPr lang="en-US" sz="1500" b="1" dirty="0">
                <a:solidFill>
                  <a:srgbClr val="F3F6F1"/>
                </a:solidFill>
              </a:rPr>
              <a:t>reduce(game, state, action)</a:t>
            </a:r>
            <a:endParaRPr lang="en-US" sz="1500" dirty="0"/>
          </a:p>
        </p:txBody>
      </p:sp>
      <p:sp>
        <p:nvSpPr>
          <p:cNvPr id="11" name="Text 9"/>
          <p:cNvSpPr txBox="1"/>
          <p:nvPr/>
        </p:nvSpPr>
        <p:spPr>
          <a:xfrm>
            <a:off x="3977640" y="2560320"/>
            <a:ext cx="3840480" cy="502920"/>
          </a:xfrm>
          <a:prstGeom prst="rect">
            <a:avLst/>
          </a:prstGeom>
          <a:noFill/>
          <a:ln/>
        </p:spPr>
        <p:txBody>
          <a:bodyPr wrap="square" lIns="0" tIns="0" rIns="0" bIns="0" rtlCol="0" anchor="t"/>
          <a:lstStyle/>
          <a:p>
            <a:pPr marL="0" indent="0">
              <a:buNone/>
            </a:pPr>
            <a:r>
              <a:rPr lang="en-US" sz="1200" dirty="0">
                <a:solidFill>
                  <a:srgbClr val="BFD6C8"/>
                </a:solidFill>
              </a:rPr>
              <a:t>Returns a new state. The only code that changes the game.</a:t>
            </a:r>
            <a:endParaRPr lang="en-US" sz="1200" dirty="0"/>
          </a:p>
        </p:txBody>
      </p:sp>
      <p:sp>
        <p:nvSpPr>
          <p:cNvPr id="12" name="calls"/>
          <p:cNvSpPr/>
          <p:nvPr/>
        </p:nvSpPr>
        <p:spPr>
          <a:xfrm>
            <a:off x="9052560" y="1828800"/>
            <a:ext cx="2587752" cy="1325880"/>
          </a:xfrm>
          <a:prstGeom prst="roundRect">
            <a:avLst>
              <a:gd name="adj" fmla="val 5517"/>
            </a:avLst>
          </a:prstGeom>
          <a:solidFill>
            <a:srgbClr val="FFFFFF"/>
          </a:solidFill>
          <a:ln w="9525">
            <a:solidFill>
              <a:srgbClr val="C9D3CC"/>
            </a:solidFill>
            <a:prstDash val="solid"/>
          </a:ln>
        </p:spPr>
      </p:sp>
      <p:sp>
        <p:nvSpPr>
          <p:cNvPr id="13" name="Text 11"/>
          <p:cNvSpPr txBox="1"/>
          <p:nvPr/>
        </p:nvSpPr>
        <p:spPr>
          <a:xfrm>
            <a:off x="9235440" y="1965960"/>
            <a:ext cx="2221992" cy="228600"/>
          </a:xfrm>
          <a:prstGeom prst="rect">
            <a:avLst/>
          </a:prstGeom>
          <a:noFill/>
          <a:ln/>
        </p:spPr>
        <p:txBody>
          <a:bodyPr wrap="square" lIns="0" tIns="0" rIns="0" bIns="0" rtlCol="0" anchor="t"/>
          <a:lstStyle/>
          <a:p>
            <a:pPr marL="0" indent="0">
              <a:buNone/>
            </a:pPr>
            <a:r>
              <a:rPr lang="en-US" sz="1000" b="1" kern="0" spc="100" dirty="0">
                <a:solidFill>
                  <a:srgbClr val="0B7A43"/>
                </a:solidFill>
              </a:rPr>
              <a:t>CALLS</a:t>
            </a:r>
            <a:endParaRPr lang="en-US" sz="1000" dirty="0"/>
          </a:p>
        </p:txBody>
      </p:sp>
      <p:sp>
        <p:nvSpPr>
          <p:cNvPr id="14" name="Text 12"/>
          <p:cNvSpPr txBox="1"/>
          <p:nvPr/>
        </p:nvSpPr>
        <p:spPr>
          <a:xfrm>
            <a:off x="9235440" y="2212848"/>
            <a:ext cx="2221992" cy="320040"/>
          </a:xfrm>
          <a:prstGeom prst="rect">
            <a:avLst/>
          </a:prstGeom>
          <a:noFill/>
          <a:ln/>
        </p:spPr>
        <p:txBody>
          <a:bodyPr wrap="square" lIns="0" tIns="0" rIns="0" bIns="0" rtlCol="0" anchor="t"/>
          <a:lstStyle/>
          <a:p>
            <a:pPr marL="0" indent="0">
              <a:buNone/>
            </a:pPr>
            <a:r>
              <a:rPr lang="en-US" sz="1500" b="1" dirty="0">
                <a:solidFill>
                  <a:srgbClr val="14231B"/>
                </a:solidFill>
              </a:rPr>
              <a:t>scoreSelection</a:t>
            </a:r>
            <a:endParaRPr lang="en-US" sz="1500" dirty="0"/>
          </a:p>
        </p:txBody>
      </p:sp>
      <p:sp>
        <p:nvSpPr>
          <p:cNvPr id="15" name="Text 13"/>
          <p:cNvSpPr txBox="1"/>
          <p:nvPr/>
        </p:nvSpPr>
        <p:spPr>
          <a:xfrm>
            <a:off x="9235440" y="2560320"/>
            <a:ext cx="2221992" cy="502920"/>
          </a:xfrm>
          <a:prstGeom prst="rect">
            <a:avLst/>
          </a:prstGeom>
          <a:noFill/>
          <a:ln/>
        </p:spPr>
        <p:txBody>
          <a:bodyPr wrap="square" lIns="0" tIns="0" rIns="0" bIns="0" rtlCol="0" anchor="t"/>
          <a:lstStyle/>
          <a:p>
            <a:pPr marL="0" indent="0">
              <a:buNone/>
            </a:pPr>
            <a:r>
              <a:rPr lang="en-US" sz="1200" dirty="0">
                <a:solidFill>
                  <a:srgbClr val="5A6D64"/>
                </a:solidFill>
              </a:rPr>
              <a:t>supplied, unchanged · checkpoint functions</a:t>
            </a:r>
            <a:endParaRPr lang="en-US" sz="1200" dirty="0"/>
          </a:p>
        </p:txBody>
      </p:sp>
      <p:sp>
        <p:nvSpPr>
          <p:cNvPr id="16" name="arrow "/>
          <p:cNvSpPr/>
          <p:nvPr/>
        </p:nvSpPr>
        <p:spPr>
          <a:xfrm>
            <a:off x="2926080" y="2487168"/>
            <a:ext cx="868680" cy="0"/>
          </a:xfrm>
          <a:prstGeom prst="line">
            <a:avLst/>
          </a:prstGeom>
          <a:noFill/>
          <a:ln w="19050">
            <a:solidFill>
              <a:srgbClr val="0B7A43"/>
            </a:solidFill>
            <a:prstDash val="solid"/>
            <a:tailEnd type="triangle"/>
          </a:ln>
        </p:spPr>
      </p:sp>
      <p:sp>
        <p:nvSpPr>
          <p:cNvPr id="17" name="arrow "/>
          <p:cNvSpPr/>
          <p:nvPr/>
        </p:nvSpPr>
        <p:spPr>
          <a:xfrm>
            <a:off x="8001000" y="2487168"/>
            <a:ext cx="1051560" cy="0"/>
          </a:xfrm>
          <a:prstGeom prst="line">
            <a:avLst/>
          </a:prstGeom>
          <a:noFill/>
          <a:ln w="19050">
            <a:solidFill>
              <a:srgbClr val="0B7A43"/>
            </a:solidFill>
            <a:prstDash val="solid"/>
            <a:tailEnd type="triangle"/>
          </a:ln>
        </p:spPr>
      </p:sp>
      <p:sp>
        <p:nvSpPr>
          <p:cNvPr id="18" name="server"/>
          <p:cNvSpPr/>
          <p:nvPr/>
        </p:nvSpPr>
        <p:spPr>
          <a:xfrm>
            <a:off x="548640" y="4069080"/>
            <a:ext cx="3383280" cy="1417320"/>
          </a:xfrm>
          <a:prstGeom prst="roundRect">
            <a:avLst>
              <a:gd name="adj" fmla="val 5161"/>
            </a:avLst>
          </a:prstGeom>
          <a:solidFill>
            <a:srgbClr val="FFFFFF"/>
          </a:solidFill>
          <a:ln w="9525">
            <a:solidFill>
              <a:srgbClr val="C9D3CC"/>
            </a:solidFill>
            <a:prstDash val="solid"/>
          </a:ln>
        </p:spPr>
      </p:sp>
      <p:sp>
        <p:nvSpPr>
          <p:cNvPr id="19" name="Text 17"/>
          <p:cNvSpPr txBox="1"/>
          <p:nvPr/>
        </p:nvSpPr>
        <p:spPr>
          <a:xfrm>
            <a:off x="731520" y="4206240"/>
            <a:ext cx="3017520" cy="228600"/>
          </a:xfrm>
          <a:prstGeom prst="rect">
            <a:avLst/>
          </a:prstGeom>
          <a:noFill/>
          <a:ln/>
        </p:spPr>
        <p:txBody>
          <a:bodyPr wrap="square" lIns="0" tIns="0" rIns="0" bIns="0" rtlCol="0" anchor="t"/>
          <a:lstStyle/>
          <a:p>
            <a:pPr marL="0" indent="0">
              <a:buNone/>
            </a:pPr>
            <a:r>
              <a:rPr lang="en-US" sz="1000" b="1" kern="0" spc="100" dirty="0">
                <a:solidFill>
                  <a:srgbClr val="0B7A43"/>
                </a:solidFill>
              </a:rPr>
              <a:t>SERVER · competition → rooms</a:t>
            </a:r>
            <a:endParaRPr lang="en-US" sz="1000" dirty="0"/>
          </a:p>
        </p:txBody>
      </p:sp>
      <p:sp>
        <p:nvSpPr>
          <p:cNvPr id="20" name="Text 18"/>
          <p:cNvSpPr txBox="1"/>
          <p:nvPr/>
        </p:nvSpPr>
        <p:spPr>
          <a:xfrm>
            <a:off x="731520" y="4453128"/>
            <a:ext cx="3017520" cy="320040"/>
          </a:xfrm>
          <a:prstGeom prst="rect">
            <a:avLst/>
          </a:prstGeom>
          <a:noFill/>
          <a:ln/>
        </p:spPr>
        <p:txBody>
          <a:bodyPr wrap="square" lIns="0" tIns="0" rIns="0" bIns="0" rtlCol="0" anchor="t"/>
          <a:lstStyle/>
          <a:p>
            <a:pPr marL="0" indent="0">
              <a:buNone/>
            </a:pPr>
            <a:r>
              <a:rPr lang="en-US" sz="1500" b="1" dirty="0">
                <a:solidFill>
                  <a:srgbClr val="14231B"/>
                </a:solidFill>
              </a:rPr>
              <a:t>Teams, roles, room lock</a:t>
            </a:r>
            <a:endParaRPr lang="en-US" sz="1500" dirty="0"/>
          </a:p>
        </p:txBody>
      </p:sp>
      <p:sp>
        <p:nvSpPr>
          <p:cNvPr id="21" name="Text 19"/>
          <p:cNvSpPr txBox="1"/>
          <p:nvPr/>
        </p:nvSpPr>
        <p:spPr>
          <a:xfrm>
            <a:off x="731520" y="4800600"/>
            <a:ext cx="3017520" cy="594360"/>
          </a:xfrm>
          <a:prstGeom prst="rect">
            <a:avLst/>
          </a:prstGeom>
          <a:noFill/>
          <a:ln/>
        </p:spPr>
        <p:txBody>
          <a:bodyPr wrap="square" lIns="0" tIns="0" rIns="0" bIns="0" rtlCol="0" anchor="t"/>
          <a:lstStyle/>
          <a:p>
            <a:pPr marL="0" indent="0">
              <a:buNone/>
            </a:pPr>
            <a:r>
              <a:rPr lang="en-US" sz="1200" dirty="0">
                <a:solidFill>
                  <a:srgbClr val="5A6D64"/>
                </a:solidFill>
              </a:rPr>
              <a:t>Who may act. One state per team; time and player come from the server, never a phone.</a:t>
            </a:r>
            <a:endParaRPr lang="en-US" sz="1200" dirty="0"/>
          </a:p>
        </p:txBody>
      </p:sp>
      <p:sp>
        <p:nvSpPr>
          <p:cNvPr id="22" name="screens"/>
          <p:cNvSpPr/>
          <p:nvPr/>
        </p:nvSpPr>
        <p:spPr>
          <a:xfrm>
            <a:off x="4389120" y="4069080"/>
            <a:ext cx="3383280" cy="1417320"/>
          </a:xfrm>
          <a:prstGeom prst="roundRect">
            <a:avLst>
              <a:gd name="adj" fmla="val 5161"/>
            </a:avLst>
          </a:prstGeom>
          <a:solidFill>
            <a:srgbClr val="FFFFFF"/>
          </a:solidFill>
          <a:ln w="9525">
            <a:solidFill>
              <a:srgbClr val="C9D3CC"/>
            </a:solidFill>
            <a:prstDash val="solid"/>
          </a:ln>
        </p:spPr>
      </p:sp>
      <p:sp>
        <p:nvSpPr>
          <p:cNvPr id="23" name="Text 21"/>
          <p:cNvSpPr txBox="1"/>
          <p:nvPr/>
        </p:nvSpPr>
        <p:spPr>
          <a:xfrm>
            <a:off x="4572000" y="4206240"/>
            <a:ext cx="3017520" cy="228600"/>
          </a:xfrm>
          <a:prstGeom prst="rect">
            <a:avLst/>
          </a:prstGeom>
          <a:noFill/>
          <a:ln/>
        </p:spPr>
        <p:txBody>
          <a:bodyPr wrap="square" lIns="0" tIns="0" rIns="0" bIns="0" rtlCol="0" anchor="t"/>
          <a:lstStyle/>
          <a:p>
            <a:pPr marL="0" indent="0">
              <a:buNone/>
            </a:pPr>
            <a:r>
              <a:rPr lang="en-US" sz="1000" b="1" kern="0" spc="100" dirty="0">
                <a:solidFill>
                  <a:srgbClr val="0B7A43"/>
                </a:solidFill>
              </a:rPr>
              <a:t>SCREENS · src/ui</a:t>
            </a:r>
            <a:endParaRPr lang="en-US" sz="1000" dirty="0"/>
          </a:p>
        </p:txBody>
      </p:sp>
      <p:sp>
        <p:nvSpPr>
          <p:cNvPr id="24" name="Text 22"/>
          <p:cNvSpPr txBox="1"/>
          <p:nvPr/>
        </p:nvSpPr>
        <p:spPr>
          <a:xfrm>
            <a:off x="4572000" y="4453128"/>
            <a:ext cx="3017520" cy="320040"/>
          </a:xfrm>
          <a:prstGeom prst="rect">
            <a:avLst/>
          </a:prstGeom>
          <a:noFill/>
          <a:ln/>
        </p:spPr>
        <p:txBody>
          <a:bodyPr wrap="square" lIns="0" tIns="0" rIns="0" bIns="0" rtlCol="0" anchor="t"/>
          <a:lstStyle/>
          <a:p>
            <a:pPr marL="0" indent="0">
              <a:buNone/>
            </a:pPr>
            <a:r>
              <a:rPr lang="en-US" sz="1500" b="1" dirty="0">
                <a:solidFill>
                  <a:srgbClr val="14231B"/>
                </a:solidFill>
              </a:rPr>
              <a:t>Read state, send actions</a:t>
            </a:r>
            <a:endParaRPr lang="en-US" sz="1500" dirty="0"/>
          </a:p>
        </p:txBody>
      </p:sp>
      <p:sp>
        <p:nvSpPr>
          <p:cNvPr id="25" name="Text 23"/>
          <p:cNvSpPr txBox="1"/>
          <p:nvPr/>
        </p:nvSpPr>
        <p:spPr>
          <a:xfrm>
            <a:off x="4572000" y="4800600"/>
            <a:ext cx="3017520" cy="594360"/>
          </a:xfrm>
          <a:prstGeom prst="rect">
            <a:avLst/>
          </a:prstGeom>
          <a:noFill/>
          <a:ln/>
        </p:spPr>
        <p:txBody>
          <a:bodyPr wrap="square" lIns="0" tIns="0" rIns="0" bIns="0" rtlCol="0" anchor="t"/>
          <a:lstStyle/>
          <a:p>
            <a:pPr marL="0" indent="0">
              <a:buNone/>
            </a:pPr>
            <a:r>
              <a:rPr lang="en-US" sz="1200" dirty="0">
                <a:solidFill>
                  <a:srgbClr val="5A6D64"/>
                </a:solidFill>
              </a:rPr>
              <a:t>Same screens on one laptop or on phones, updated live (server-sent events).</a:t>
            </a:r>
            <a:endParaRPr lang="en-US" sz="1200" dirty="0"/>
          </a:p>
        </p:txBody>
      </p:sp>
      <p:sp>
        <p:nvSpPr>
          <p:cNvPr id="26" name="reports"/>
          <p:cNvSpPr/>
          <p:nvPr/>
        </p:nvSpPr>
        <p:spPr>
          <a:xfrm>
            <a:off x="8229600" y="4069080"/>
            <a:ext cx="3410712" cy="1417320"/>
          </a:xfrm>
          <a:prstGeom prst="roundRect">
            <a:avLst>
              <a:gd name="adj" fmla="val 5161"/>
            </a:avLst>
          </a:prstGeom>
          <a:solidFill>
            <a:srgbClr val="FFFFFF"/>
          </a:solidFill>
          <a:ln w="9525">
            <a:solidFill>
              <a:srgbClr val="C9D3CC"/>
            </a:solidFill>
            <a:prstDash val="solid"/>
          </a:ln>
        </p:spPr>
      </p:sp>
      <p:sp>
        <p:nvSpPr>
          <p:cNvPr id="27" name="Text 25"/>
          <p:cNvSpPr txBox="1"/>
          <p:nvPr/>
        </p:nvSpPr>
        <p:spPr>
          <a:xfrm>
            <a:off x="8412480" y="4206240"/>
            <a:ext cx="3044952" cy="228600"/>
          </a:xfrm>
          <a:prstGeom prst="rect">
            <a:avLst/>
          </a:prstGeom>
          <a:noFill/>
          <a:ln/>
        </p:spPr>
        <p:txBody>
          <a:bodyPr wrap="square" lIns="0" tIns="0" rIns="0" bIns="0" rtlCol="0" anchor="t"/>
          <a:lstStyle/>
          <a:p>
            <a:pPr marL="0" indent="0">
              <a:buNone/>
            </a:pPr>
            <a:r>
              <a:rPr lang="en-US" sz="1000" b="1" kern="0" spc="100" dirty="0">
                <a:solidFill>
                  <a:srgbClr val="0B7A43"/>
                </a:solidFill>
              </a:rPr>
              <a:t>REPORTS · pure functions</a:t>
            </a:r>
            <a:endParaRPr lang="en-US" sz="1000" dirty="0"/>
          </a:p>
        </p:txBody>
      </p:sp>
      <p:sp>
        <p:nvSpPr>
          <p:cNvPr id="28" name="Text 26"/>
          <p:cNvSpPr txBox="1"/>
          <p:nvPr/>
        </p:nvSpPr>
        <p:spPr>
          <a:xfrm>
            <a:off x="8412480" y="4453128"/>
            <a:ext cx="3044952" cy="320040"/>
          </a:xfrm>
          <a:prstGeom prst="rect">
            <a:avLst/>
          </a:prstGeom>
          <a:noFill/>
          <a:ln/>
        </p:spPr>
        <p:txBody>
          <a:bodyPr wrap="square" lIns="0" tIns="0" rIns="0" bIns="0" rtlCol="0" anchor="t"/>
          <a:lstStyle/>
          <a:p>
            <a:pPr marL="0" indent="0">
              <a:buNone/>
            </a:pPr>
            <a:r>
              <a:rPr lang="en-US" sz="1500" b="1" dirty="0">
                <a:solidFill>
                  <a:srgbClr val="14231B"/>
                </a:solidFill>
              </a:rPr>
              <a:t>Debrief, night report, standings</a:t>
            </a:r>
            <a:endParaRPr lang="en-US" sz="1500" dirty="0"/>
          </a:p>
        </p:txBody>
      </p:sp>
      <p:sp>
        <p:nvSpPr>
          <p:cNvPr id="29" name="Text 27"/>
          <p:cNvSpPr txBox="1"/>
          <p:nvPr/>
        </p:nvSpPr>
        <p:spPr>
          <a:xfrm>
            <a:off x="8412480" y="4800600"/>
            <a:ext cx="3044952" cy="594360"/>
          </a:xfrm>
          <a:prstGeom prst="rect">
            <a:avLst/>
          </a:prstGeom>
          <a:noFill/>
          <a:ln/>
        </p:spPr>
        <p:txBody>
          <a:bodyPr wrap="square" lIns="0" tIns="0" rIns="0" bIns="0" rtlCol="0" anchor="t"/>
          <a:lstStyle/>
          <a:p>
            <a:pPr marL="0" indent="0">
              <a:buNone/>
            </a:pPr>
            <a:r>
              <a:rPr lang="en-US" sz="1200" dirty="0">
                <a:solidFill>
                  <a:srgbClr val="5A6D64"/>
                </a:solidFill>
              </a:rPr>
              <a:t>Worked out from the final state, so they always agree with the scores.</a:t>
            </a:r>
            <a:endParaRPr lang="en-US" sz="1200" dirty="0"/>
          </a:p>
        </p:txBody>
      </p:sp>
      <p:sp>
        <p:nvSpPr>
          <p:cNvPr id="30" name="arrow "/>
          <p:cNvSpPr/>
          <p:nvPr/>
        </p:nvSpPr>
        <p:spPr>
          <a:xfrm flipV="1">
            <a:off x="2240280" y="3154680"/>
            <a:ext cx="2331720" cy="914400"/>
          </a:xfrm>
          <a:prstGeom prst="line">
            <a:avLst/>
          </a:prstGeom>
          <a:noFill/>
          <a:ln w="19050">
            <a:solidFill>
              <a:srgbClr val="0B7A43"/>
            </a:solidFill>
            <a:prstDash val="solid"/>
            <a:tailEnd type="triangle"/>
          </a:ln>
        </p:spPr>
      </p:sp>
      <p:sp>
        <p:nvSpPr>
          <p:cNvPr id="31" name="Text 29"/>
          <p:cNvSpPr txBox="1"/>
          <p:nvPr/>
        </p:nvSpPr>
        <p:spPr>
          <a:xfrm>
            <a:off x="2514600" y="3401568"/>
            <a:ext cx="1097280" cy="274320"/>
          </a:xfrm>
          <a:prstGeom prst="rect">
            <a:avLst/>
          </a:prstGeom>
          <a:noFill/>
          <a:ln/>
        </p:spPr>
        <p:txBody>
          <a:bodyPr wrap="square" lIns="0" tIns="0" rIns="0" bIns="0" rtlCol="0" anchor="t"/>
          <a:lstStyle/>
          <a:p>
            <a:pPr marL="0" indent="0">
              <a:buNone/>
            </a:pPr>
            <a:r>
              <a:rPr lang="en-US" sz="1100" b="1" dirty="0">
                <a:solidFill>
                  <a:srgbClr val="0B7A43"/>
                </a:solidFill>
              </a:rPr>
              <a:t>actions</a:t>
            </a:r>
            <a:endParaRPr lang="en-US" sz="1100" dirty="0"/>
          </a:p>
        </p:txBody>
      </p:sp>
      <p:sp>
        <p:nvSpPr>
          <p:cNvPr id="32" name="arrow "/>
          <p:cNvSpPr/>
          <p:nvPr/>
        </p:nvSpPr>
        <p:spPr>
          <a:xfrm>
            <a:off x="5897880" y="3154680"/>
            <a:ext cx="182880" cy="914400"/>
          </a:xfrm>
          <a:prstGeom prst="line">
            <a:avLst/>
          </a:prstGeom>
          <a:noFill/>
          <a:ln w="19050">
            <a:solidFill>
              <a:srgbClr val="0B7A43"/>
            </a:solidFill>
            <a:prstDash val="solid"/>
            <a:tailEnd type="triangle"/>
          </a:ln>
        </p:spPr>
      </p:sp>
      <p:sp>
        <p:nvSpPr>
          <p:cNvPr id="33" name="Text 31"/>
          <p:cNvSpPr txBox="1"/>
          <p:nvPr/>
        </p:nvSpPr>
        <p:spPr>
          <a:xfrm>
            <a:off x="6108192" y="3474720"/>
            <a:ext cx="1188720" cy="274320"/>
          </a:xfrm>
          <a:prstGeom prst="rect">
            <a:avLst/>
          </a:prstGeom>
          <a:noFill/>
          <a:ln/>
        </p:spPr>
        <p:txBody>
          <a:bodyPr wrap="square" lIns="0" tIns="0" rIns="0" bIns="0" rtlCol="0" anchor="t"/>
          <a:lstStyle/>
          <a:p>
            <a:pPr marL="0" indent="0">
              <a:buNone/>
            </a:pPr>
            <a:r>
              <a:rPr lang="en-US" sz="1100" b="1" dirty="0">
                <a:solidFill>
                  <a:srgbClr val="0B7A43"/>
                </a:solidFill>
              </a:rPr>
              <a:t>new state</a:t>
            </a:r>
            <a:endParaRPr lang="en-US" sz="1100" dirty="0"/>
          </a:p>
        </p:txBody>
      </p:sp>
      <p:sp>
        <p:nvSpPr>
          <p:cNvPr id="34" name="arrow "/>
          <p:cNvSpPr/>
          <p:nvPr/>
        </p:nvSpPr>
        <p:spPr>
          <a:xfrm>
            <a:off x="7223760" y="3154680"/>
            <a:ext cx="2697480" cy="914400"/>
          </a:xfrm>
          <a:prstGeom prst="line">
            <a:avLst/>
          </a:prstGeom>
          <a:noFill/>
          <a:ln w="19050">
            <a:solidFill>
              <a:srgbClr val="0B7A43"/>
            </a:solidFill>
            <a:prstDash val="solid"/>
            <a:tailEnd type="triangle"/>
          </a:ln>
        </p:spPr>
      </p:sp>
      <p:sp>
        <p:nvSpPr>
          <p:cNvPr id="35" name="Text 33"/>
          <p:cNvSpPr txBox="1"/>
          <p:nvPr/>
        </p:nvSpPr>
        <p:spPr>
          <a:xfrm>
            <a:off x="548640" y="5715000"/>
            <a:ext cx="11094415" cy="365760"/>
          </a:xfrm>
          <a:prstGeom prst="rect">
            <a:avLst/>
          </a:prstGeom>
          <a:noFill/>
          <a:ln/>
        </p:spPr>
        <p:txBody>
          <a:bodyPr wrap="square" lIns="0" tIns="0" rIns="0" bIns="0" rtlCol="0" anchor="t"/>
          <a:lstStyle/>
          <a:p>
            <a:pPr marL="0" indent="0">
              <a:buNone/>
            </a:pPr>
            <a:r>
              <a:rPr lang="en-US" sz="1300" dirty="0">
                <a:solidFill>
                  <a:srgbClr val="5A6D64"/>
                </a:solidFill>
              </a:rPr>
              <a:t>Single player runs the same reduce() in the browser; team battle runs it on the server, one copy per team.</a:t>
            </a:r>
            <a:endParaRPr lang="en-US" sz="1300" dirty="0"/>
          </a:p>
        </p:txBody>
      </p:sp>
      <p:sp>
        <p:nvSpPr>
          <p:cNvPr id="3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A6D6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0B7A43"/>
                </a:solidFill>
              </a:rPr>
              <a:t>A DESIGN DECISION</a:t>
            </a:r>
            <a:endParaRPr lang="en-US" sz="12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31B"/>
                </a:solidFill>
              </a:rPr>
              <a:t>The server owns the state; phones only ask</a:t>
            </a:r>
            <a:endParaRPr lang="en-US" sz="3400" dirty="0"/>
          </a:p>
        </p:txBody>
      </p:sp>
      <p:sp>
        <p:nvSpPr>
          <p:cNvPr id="4" name="We considered"/>
          <p:cNvSpPr/>
          <p:nvPr/>
        </p:nvSpPr>
        <p:spPr>
          <a:xfrm>
            <a:off x="548640" y="1828800"/>
            <a:ext cx="3520440" cy="2606040"/>
          </a:xfrm>
          <a:prstGeom prst="roundRect">
            <a:avLst>
              <a:gd name="adj" fmla="val 2807"/>
            </a:avLst>
          </a:prstGeom>
          <a:solidFill>
            <a:srgbClr val="FFFFFF"/>
          </a:solidFill>
          <a:ln w="9525">
            <a:solidFill>
              <a:srgbClr val="C9D3CC"/>
            </a:solidFill>
            <a:prstDash val="solid"/>
          </a:ln>
        </p:spPr>
      </p:sp>
      <p:sp>
        <p:nvSpPr>
          <p:cNvPr id="5" name="Text 3"/>
          <p:cNvSpPr txBox="1"/>
          <p:nvPr/>
        </p:nvSpPr>
        <p:spPr>
          <a:xfrm>
            <a:off x="822960" y="2103120"/>
            <a:ext cx="2971800" cy="365760"/>
          </a:xfrm>
          <a:prstGeom prst="rect">
            <a:avLst/>
          </a:prstGeom>
          <a:noFill/>
          <a:ln/>
        </p:spPr>
        <p:txBody>
          <a:bodyPr wrap="square" lIns="0" tIns="0" rIns="0" bIns="0" rtlCol="0" anchor="t"/>
          <a:lstStyle/>
          <a:p>
            <a:pPr marL="0" indent="0">
              <a:buNone/>
            </a:pPr>
            <a:r>
              <a:rPr lang="en-US" sz="1800" b="1" dirty="0">
                <a:solidFill>
                  <a:srgbClr val="14231B"/>
                </a:solidFill>
              </a:rPr>
              <a:t>We considered</a:t>
            </a:r>
            <a:endParaRPr lang="en-US" sz="1800" dirty="0"/>
          </a:p>
        </p:txBody>
      </p:sp>
      <p:sp>
        <p:nvSpPr>
          <p:cNvPr id="6" name="Text 4"/>
          <p:cNvSpPr txBox="1"/>
          <p:nvPr/>
        </p:nvSpPr>
        <p:spPr>
          <a:xfrm>
            <a:off x="822960" y="2606040"/>
            <a:ext cx="2971800" cy="2286000"/>
          </a:xfrm>
          <a:prstGeom prst="rect">
            <a:avLst/>
          </a:prstGeom>
          <a:noFill/>
          <a:ln/>
        </p:spPr>
        <p:txBody>
          <a:bodyPr wrap="square" lIns="0" tIns="0" rIns="0" bIns="0" rtlCol="0" anchor="t"/>
          <a:lstStyle/>
          <a:p>
            <a:pPr marL="0" indent="0">
              <a:buNone/>
            </a:pPr>
            <a:r>
              <a:rPr lang="en-US" sz="1500" dirty="0">
                <a:solidFill>
                  <a:srgbClr val="5A6D64"/>
                </a:solidFill>
              </a:rPr>
              <a:t>Each phone keeping its own copy of the game and sending results, with timers that read each device's own clock.</a:t>
            </a:r>
            <a:endParaRPr lang="en-US" sz="1500" dirty="0"/>
          </a:p>
        </p:txBody>
      </p:sp>
      <p:sp>
        <p:nvSpPr>
          <p:cNvPr id="7" name="We chose"/>
          <p:cNvSpPr/>
          <p:nvPr/>
        </p:nvSpPr>
        <p:spPr>
          <a:xfrm>
            <a:off x="4343400" y="1828800"/>
            <a:ext cx="3520440" cy="2606040"/>
          </a:xfrm>
          <a:prstGeom prst="roundRect">
            <a:avLst>
              <a:gd name="adj" fmla="val 2807"/>
            </a:avLst>
          </a:prstGeom>
          <a:solidFill>
            <a:srgbClr val="0E2A1F"/>
          </a:solidFill>
          <a:ln/>
        </p:spPr>
      </p:sp>
      <p:sp>
        <p:nvSpPr>
          <p:cNvPr id="8" name="Text 6"/>
          <p:cNvSpPr txBox="1"/>
          <p:nvPr/>
        </p:nvSpPr>
        <p:spPr>
          <a:xfrm>
            <a:off x="4617720" y="2103120"/>
            <a:ext cx="2971800" cy="365760"/>
          </a:xfrm>
          <a:prstGeom prst="rect">
            <a:avLst/>
          </a:prstGeom>
          <a:noFill/>
          <a:ln/>
        </p:spPr>
        <p:txBody>
          <a:bodyPr wrap="square" lIns="0" tIns="0" rIns="0" bIns="0" rtlCol="0" anchor="t"/>
          <a:lstStyle/>
          <a:p>
            <a:pPr marL="0" indent="0">
              <a:buNone/>
            </a:pPr>
            <a:r>
              <a:rPr lang="en-US" sz="1800" b="1" dirty="0">
                <a:solidFill>
                  <a:srgbClr val="2EB872"/>
                </a:solidFill>
              </a:rPr>
              <a:t>We chose</a:t>
            </a:r>
            <a:endParaRPr lang="en-US" sz="1800" dirty="0"/>
          </a:p>
        </p:txBody>
      </p:sp>
      <p:sp>
        <p:nvSpPr>
          <p:cNvPr id="9" name="Text 7"/>
          <p:cNvSpPr txBox="1"/>
          <p:nvPr/>
        </p:nvSpPr>
        <p:spPr>
          <a:xfrm>
            <a:off x="4617720" y="2606040"/>
            <a:ext cx="2971800" cy="2286000"/>
          </a:xfrm>
          <a:prstGeom prst="rect">
            <a:avLst/>
          </a:prstGeom>
          <a:noFill/>
          <a:ln/>
        </p:spPr>
        <p:txBody>
          <a:bodyPr wrap="square" lIns="0" tIns="0" rIns="0" bIns="0" rtlCol="0" anchor="t"/>
          <a:lstStyle/>
          <a:p>
            <a:pPr marL="0" indent="0">
              <a:buNone/>
            </a:pPr>
            <a:r>
              <a:rPr lang="en-US" sz="1500" dirty="0">
                <a:solidFill>
                  <a:srgbClr val="F3F6F1"/>
                </a:solidFill>
              </a:rPr>
              <a:t>One reducer per team on the server. A phone sends "buy P3"; the server adds who and when, applies it, and pushes the new state to every screen.</a:t>
            </a:r>
            <a:endParaRPr lang="en-US" sz="1500" dirty="0"/>
          </a:p>
        </p:txBody>
      </p:sp>
      <p:sp>
        <p:nvSpPr>
          <p:cNvPr id="10" name="Because"/>
          <p:cNvSpPr/>
          <p:nvPr/>
        </p:nvSpPr>
        <p:spPr>
          <a:xfrm>
            <a:off x="8138160" y="1828800"/>
            <a:ext cx="3520440" cy="2606040"/>
          </a:xfrm>
          <a:prstGeom prst="roundRect">
            <a:avLst>
              <a:gd name="adj" fmla="val 2807"/>
            </a:avLst>
          </a:prstGeom>
          <a:solidFill>
            <a:srgbClr val="FFFFFF"/>
          </a:solidFill>
          <a:ln w="9525">
            <a:solidFill>
              <a:srgbClr val="C9D3CC"/>
            </a:solidFill>
            <a:prstDash val="solid"/>
          </a:ln>
        </p:spPr>
      </p:sp>
      <p:sp>
        <p:nvSpPr>
          <p:cNvPr id="11" name="Text 9"/>
          <p:cNvSpPr txBox="1"/>
          <p:nvPr/>
        </p:nvSpPr>
        <p:spPr>
          <a:xfrm>
            <a:off x="8412480" y="2103120"/>
            <a:ext cx="2971800" cy="365760"/>
          </a:xfrm>
          <a:prstGeom prst="rect">
            <a:avLst/>
          </a:prstGeom>
          <a:noFill/>
          <a:ln/>
        </p:spPr>
        <p:txBody>
          <a:bodyPr wrap="square" lIns="0" tIns="0" rIns="0" bIns="0" rtlCol="0" anchor="t"/>
          <a:lstStyle/>
          <a:p>
            <a:pPr marL="0" indent="0">
              <a:buNone/>
            </a:pPr>
            <a:r>
              <a:rPr lang="en-US" sz="1800" b="1" dirty="0">
                <a:solidFill>
                  <a:srgbClr val="14231B"/>
                </a:solidFill>
              </a:rPr>
              <a:t>Because</a:t>
            </a:r>
            <a:endParaRPr lang="en-US" sz="1800" dirty="0"/>
          </a:p>
        </p:txBody>
      </p:sp>
      <p:sp>
        <p:nvSpPr>
          <p:cNvPr id="12" name="Text 10"/>
          <p:cNvSpPr txBox="1"/>
          <p:nvPr/>
        </p:nvSpPr>
        <p:spPr>
          <a:xfrm>
            <a:off x="8412480" y="2606040"/>
            <a:ext cx="2971800" cy="2286000"/>
          </a:xfrm>
          <a:prstGeom prst="rect">
            <a:avLst/>
          </a:prstGeom>
          <a:noFill/>
          <a:ln/>
        </p:spPr>
        <p:txBody>
          <a:bodyPr wrap="square" lIns="0" tIns="0" rIns="0" bIns="0" rtlCol="0" anchor="t"/>
          <a:lstStyle/>
          <a:p>
            <a:pPr marL="0" indent="0">
              <a:buNone/>
            </a:pPr>
            <a:r>
              <a:rPr lang="en-US" sz="1500" dirty="0">
                <a:solidFill>
                  <a:srgbClr val="5A6D64"/>
                </a:solidFill>
              </a:rPr>
              <a:t>Two phones spending the last £100k at once can't both win. Every screen shows one clock. A test can jump "two minutes later" in one line.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A6D6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2EB872"/>
                </a:solidFill>
              </a:rPr>
              <a:t>TESTS</a:t>
            </a:r>
            <a:endParaRPr lang="en-US" sz="12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F3F6F1"/>
                </a:solidFill>
              </a:rPr>
              <a:t>Every rule in the brief has a test</a:t>
            </a:r>
            <a:endParaRPr lang="en-US" sz="3400" dirty="0"/>
          </a:p>
        </p:txBody>
      </p:sp>
      <p:sp>
        <p:nvSpPr>
          <p:cNvPr id="4" name="Text 2"/>
          <p:cNvSpPr txBox="1"/>
          <p:nvPr/>
        </p:nvSpPr>
        <p:spPr>
          <a:xfrm>
            <a:off x="548640" y="1828800"/>
            <a:ext cx="4114800" cy="1188720"/>
          </a:xfrm>
          <a:prstGeom prst="rect">
            <a:avLst/>
          </a:prstGeom>
          <a:noFill/>
          <a:ln/>
        </p:spPr>
        <p:txBody>
          <a:bodyPr wrap="square" lIns="0" tIns="0" rIns="0" bIns="0" rtlCol="0" anchor="t"/>
          <a:lstStyle/>
          <a:p>
            <a:pPr marL="0" indent="0">
              <a:buNone/>
            </a:pPr>
            <a:r>
              <a:rPr lang="en-US" sz="8000" b="1" dirty="0">
                <a:solidFill>
                  <a:srgbClr val="2EB872"/>
                </a:solidFill>
              </a:rPr>
              <a:t>338</a:t>
            </a:r>
            <a:endParaRPr lang="en-US" sz="8000" dirty="0"/>
          </a:p>
        </p:txBody>
      </p:sp>
      <p:sp>
        <p:nvSpPr>
          <p:cNvPr id="5" name="Text 3"/>
          <p:cNvSpPr txBox="1"/>
          <p:nvPr/>
        </p:nvSpPr>
        <p:spPr>
          <a:xfrm>
            <a:off x="548640" y="3063240"/>
            <a:ext cx="4114800" cy="365760"/>
          </a:xfrm>
          <a:prstGeom prst="rect">
            <a:avLst/>
          </a:prstGeom>
          <a:noFill/>
          <a:ln/>
        </p:spPr>
        <p:txBody>
          <a:bodyPr wrap="square" lIns="0" tIns="0" rIns="0" bIns="0" rtlCol="0" anchor="t"/>
          <a:lstStyle/>
          <a:p>
            <a:pPr marL="0" indent="0">
              <a:buNone/>
            </a:pPr>
            <a:r>
              <a:rPr lang="en-US" sz="1800" dirty="0">
                <a:solidFill>
                  <a:srgbClr val="F3F6F1"/>
                </a:solidFill>
              </a:rPr>
              <a:t>tests passing, 0 failing</a:t>
            </a:r>
            <a:endParaRPr lang="en-US" sz="1800" dirty="0"/>
          </a:p>
        </p:txBody>
      </p:sp>
      <p:sp>
        <p:nvSpPr>
          <p:cNvPr id="6" name="command"/>
          <p:cNvSpPr/>
          <p:nvPr/>
        </p:nvSpPr>
        <p:spPr>
          <a:xfrm>
            <a:off x="548640" y="3611880"/>
            <a:ext cx="4114800" cy="502920"/>
          </a:xfrm>
          <a:prstGeom prst="roundRect">
            <a:avLst>
              <a:gd name="adj" fmla="val 14545"/>
            </a:avLst>
          </a:prstGeom>
          <a:solidFill>
            <a:srgbClr val="1D372C"/>
          </a:solidFill>
          <a:ln/>
        </p:spPr>
      </p:sp>
      <p:sp>
        <p:nvSpPr>
          <p:cNvPr id="7" name="Text 5"/>
          <p:cNvSpPr txBox="1"/>
          <p:nvPr/>
        </p:nvSpPr>
        <p:spPr>
          <a:xfrm>
            <a:off x="777240" y="3721608"/>
            <a:ext cx="3657600" cy="320040"/>
          </a:xfrm>
          <a:prstGeom prst="rect">
            <a:avLst/>
          </a:prstGeom>
          <a:noFill/>
          <a:ln/>
        </p:spPr>
        <p:txBody>
          <a:bodyPr wrap="square" lIns="0" tIns="0" rIns="0" bIns="0" rtlCol="0" anchor="t"/>
          <a:lstStyle/>
          <a:p>
            <a:pPr marL="0" indent="0">
              <a:buNone/>
            </a:pPr>
            <a:r>
              <a:rPr lang="en-US" sz="1500" b="1" dirty="0">
                <a:solidFill>
                  <a:srgbClr val="F3F6F1"/>
                </a:solidFill>
                <a:latin typeface="Courier New" pitchFamily="34" charset="0"/>
                <a:ea typeface="Courier New" pitchFamily="34" charset="-122"/>
                <a:cs typeface="Courier New" pitchFamily="34" charset="-120"/>
              </a:rPr>
              <a:t>npm test</a:t>
            </a:r>
            <a:endParaRPr lang="en-US" sz="1500" dirty="0"/>
          </a:p>
        </p:txBody>
      </p:sp>
      <p:sp>
        <p:nvSpPr>
          <p:cNvPr id="8" name="Text 6"/>
          <p:cNvSpPr txBox="1"/>
          <p:nvPr/>
        </p:nvSpPr>
        <p:spPr>
          <a:xfrm>
            <a:off x="548640" y="4343400"/>
            <a:ext cx="420624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FD6C8"/>
                </a:solidFill>
              </a:rPr>
              <a:t>Scores checked against the supplied scoring module</a:t>
            </a:r>
            <a:endParaRPr lang="en-US" sz="1400" dirty="0"/>
          </a:p>
          <a:p>
            <a:pPr marL="342900" indent="-342900">
              <a:spcAft>
                <a:spcPts val="600"/>
              </a:spcAft>
              <a:buSzPct val="100000"/>
              <a:buChar char="•"/>
            </a:pPr>
            <a:r>
              <a:rPr lang="en-US" sz="1400" dirty="0">
                <a:solidFill>
                  <a:srgbClr val="BFD6C8"/>
                </a:solidFill>
              </a:rPr>
              <a:t>Real server tests: live updates, refresh, room lock</a:t>
            </a:r>
            <a:endParaRPr lang="en-US" sz="1400" dirty="0"/>
          </a:p>
          <a:p>
            <a:pPr marL="342900" indent="-342900">
              <a:spcAft>
                <a:spcPts val="600"/>
              </a:spcAft>
              <a:buSzPct val="100000"/>
              <a:buChar char="•"/>
            </a:pPr>
            <a:r>
              <a:rPr lang="en-US" sz="1400" dirty="0">
                <a:solidFill>
                  <a:srgbClr val="BFD6C8"/>
                </a:solidFill>
              </a:rPr>
              <a:t>An audit suite found 6 bugs; all fixed, tests kept</a:t>
            </a:r>
            <a:endParaRPr lang="en-US" sz="1400" dirty="0"/>
          </a:p>
        </p:txBody>
      </p:sp>
      <p:sp>
        <p:nvSpPr>
          <p:cNvPr id="9" name="favourite test"/>
          <p:cNvSpPr/>
          <p:nvPr/>
        </p:nvSpPr>
        <p:spPr>
          <a:xfrm>
            <a:off x="5166360" y="1828800"/>
            <a:ext cx="6476695" cy="3657600"/>
          </a:xfrm>
          <a:prstGeom prst="roundRect">
            <a:avLst>
              <a:gd name="adj" fmla="val 2000"/>
            </a:avLst>
          </a:prstGeom>
          <a:solidFill>
            <a:srgbClr val="1D372C"/>
          </a:solidFill>
          <a:ln/>
        </p:spPr>
      </p:sp>
      <p:sp>
        <p:nvSpPr>
          <p:cNvPr id="10" name="Text 8"/>
          <p:cNvSpPr txBox="1"/>
          <p:nvPr/>
        </p:nvSpPr>
        <p:spPr>
          <a:xfrm>
            <a:off x="5532120" y="2103120"/>
            <a:ext cx="5745175" cy="274320"/>
          </a:xfrm>
          <a:prstGeom prst="rect">
            <a:avLst/>
          </a:prstGeom>
          <a:noFill/>
          <a:ln/>
        </p:spPr>
        <p:txBody>
          <a:bodyPr wrap="square" lIns="0" tIns="0" rIns="0" bIns="0" rtlCol="0" anchor="t"/>
          <a:lstStyle/>
          <a:p>
            <a:pPr marL="0" indent="0">
              <a:buNone/>
            </a:pPr>
            <a:r>
              <a:rPr lang="en-US" sz="1100" b="1" kern="0" spc="100" dirty="0">
                <a:solidFill>
                  <a:srgbClr val="F0A24A"/>
                </a:solidFill>
              </a:rPr>
              <a:t>THE TEST WE ARE GLAD WE WROTE</a:t>
            </a:r>
            <a:endParaRPr lang="en-US" sz="1100" dirty="0"/>
          </a:p>
        </p:txBody>
      </p:sp>
      <p:sp>
        <p:nvSpPr>
          <p:cNvPr id="11" name="Text 9"/>
          <p:cNvSpPr txBox="1"/>
          <p:nvPr/>
        </p:nvSpPr>
        <p:spPr>
          <a:xfrm>
            <a:off x="5532120" y="2468880"/>
            <a:ext cx="5745175" cy="822960"/>
          </a:xfrm>
          <a:prstGeom prst="rect">
            <a:avLst/>
          </a:prstGeom>
          <a:noFill/>
          <a:ln/>
        </p:spPr>
        <p:txBody>
          <a:bodyPr wrap="square" lIns="0" tIns="0" rIns="0" bIns="0" rtlCol="0" anchor="t"/>
          <a:lstStyle/>
          <a:p>
            <a:pPr marL="0" indent="0">
              <a:buNone/>
            </a:pPr>
            <a:r>
              <a:rPr lang="en-US" sz="2200" b="1" dirty="0">
                <a:solidFill>
                  <a:srgbClr val="F3F6F1"/>
                </a:solidFill>
              </a:rPr>
              <a:t>Two phones spend the last of the budget at the same moment</a:t>
            </a:r>
            <a:endParaRPr lang="en-US" sz="2200" dirty="0"/>
          </a:p>
        </p:txBody>
      </p:sp>
      <p:sp>
        <p:nvSpPr>
          <p:cNvPr id="12" name="Text 10"/>
          <p:cNvSpPr txBox="1"/>
          <p:nvPr/>
        </p:nvSpPr>
        <p:spPr>
          <a:xfrm>
            <a:off x="5532120" y="3429000"/>
            <a:ext cx="5745175" cy="1280160"/>
          </a:xfrm>
          <a:prstGeom prst="rect">
            <a:avLst/>
          </a:prstGeom>
          <a:noFill/>
          <a:ln/>
        </p:spPr>
        <p:txBody>
          <a:bodyPr wrap="square" lIns="0" tIns="0" rIns="0" bIns="0" rtlCol="0" anchor="t"/>
          <a:lstStyle/>
          <a:p>
            <a:pPr marL="0" indent="0">
              <a:buNone/>
            </a:pPr>
            <a:r>
              <a:rPr lang="en-US" sz="1500" dirty="0">
                <a:solidFill>
                  <a:srgbClr val="BFD6C8"/>
                </a:solidFill>
              </a:rPr>
              <a:t>£100,000 left. Two players each try to buy a £100,000 control at once, over the real server. Only the first goes through; the second gets a clear "not enough budget" message, and the plan stays valid.</a:t>
            </a:r>
            <a:endParaRPr lang="en-US" sz="1500" dirty="0"/>
          </a:p>
        </p:txBody>
      </p:sp>
      <p:sp>
        <p:nvSpPr>
          <p:cNvPr id="13" name="Text 11"/>
          <p:cNvSpPr txBox="1"/>
          <p:nvPr/>
        </p:nvSpPr>
        <p:spPr>
          <a:xfrm>
            <a:off x="5532120" y="4617720"/>
            <a:ext cx="5745175" cy="640080"/>
          </a:xfrm>
          <a:prstGeom prst="rect">
            <a:avLst/>
          </a:prstGeom>
          <a:noFill/>
          <a:ln/>
        </p:spPr>
        <p:txBody>
          <a:bodyPr wrap="square" lIns="0" tIns="0" rIns="0" bIns="0" rtlCol="0" anchor="t"/>
          <a:lstStyle/>
          <a:p>
            <a:pPr marL="0" indent="0">
              <a:buNone/>
            </a:pPr>
            <a:r>
              <a:rPr lang="en-US" sz="1500" b="1" dirty="0">
                <a:solidFill>
                  <a:srgbClr val="2EB872"/>
                </a:solidFill>
              </a:rPr>
              <a:t>It is the bug most likely to happen in a shared game, and the easiest to miss.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FD6C8"/>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457200"/>
            <a:ext cx="9144000" cy="274320"/>
          </a:xfrm>
          <a:prstGeom prst="rect">
            <a:avLst/>
          </a:prstGeom>
          <a:noFill/>
          <a:ln/>
        </p:spPr>
        <p:txBody>
          <a:bodyPr wrap="square" lIns="0" tIns="0" rIns="0" bIns="0" rtlCol="0" anchor="ctr"/>
          <a:lstStyle/>
          <a:p>
            <a:pPr marL="0" indent="0">
              <a:buNone/>
            </a:pPr>
            <a:r>
              <a:rPr lang="en-US" sz="1200" b="1" kern="0" spc="200" dirty="0">
                <a:solidFill>
                  <a:srgbClr val="0B7A43"/>
                </a:solidFill>
              </a:rPr>
              <a:t>BEING HONEST</a:t>
            </a:r>
            <a:endParaRPr lang="en-US" sz="1200" dirty="0"/>
          </a:p>
        </p:txBody>
      </p:sp>
      <p:sp>
        <p:nvSpPr>
          <p:cNvPr id="3"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r>
              <a:rPr lang="en-US" sz="3400" b="1" dirty="0">
                <a:solidFill>
                  <a:srgbClr val="14231B"/>
                </a:solidFill>
              </a:rPr>
              <a:t>What works, what doesn't, and where AI helped</a:t>
            </a:r>
            <a:endParaRPr lang="en-US" sz="3400" dirty="0"/>
          </a:p>
        </p:txBody>
      </p:sp>
      <p:sp>
        <p:nvSpPr>
          <p:cNvPr id="4" name="Works"/>
          <p:cNvSpPr/>
          <p:nvPr/>
        </p:nvSpPr>
        <p:spPr>
          <a:xfrm>
            <a:off x="548640" y="1828800"/>
            <a:ext cx="3520440" cy="3840480"/>
          </a:xfrm>
          <a:prstGeom prst="roundRect">
            <a:avLst>
              <a:gd name="adj" fmla="val 2078"/>
            </a:avLst>
          </a:prstGeom>
          <a:solidFill>
            <a:srgbClr val="FFFFFF"/>
          </a:solidFill>
          <a:ln w="9525">
            <a:solidFill>
              <a:srgbClr val="C9D3CC"/>
            </a:solidFill>
            <a:prstDash val="solid"/>
          </a:ln>
        </p:spPr>
      </p:sp>
      <p:sp>
        <p:nvSpPr>
          <p:cNvPr id="5" name="Text 3"/>
          <p:cNvSpPr txBox="1"/>
          <p:nvPr/>
        </p:nvSpPr>
        <p:spPr>
          <a:xfrm>
            <a:off x="822960" y="2103120"/>
            <a:ext cx="2971800" cy="365760"/>
          </a:xfrm>
          <a:prstGeom prst="rect">
            <a:avLst/>
          </a:prstGeom>
          <a:noFill/>
          <a:ln/>
        </p:spPr>
        <p:txBody>
          <a:bodyPr wrap="square" lIns="0" tIns="0" rIns="0" bIns="0" rtlCol="0" anchor="t"/>
          <a:lstStyle/>
          <a:p>
            <a:pPr marL="0" indent="0">
              <a:buNone/>
            </a:pPr>
            <a:r>
              <a:rPr lang="en-US" sz="1800" b="1" dirty="0">
                <a:solidFill>
                  <a:srgbClr val="0B7A43"/>
                </a:solidFill>
              </a:rPr>
              <a:t>Works</a:t>
            </a:r>
            <a:endParaRPr lang="en-US" sz="1800" dirty="0"/>
          </a:p>
        </p:txBody>
      </p:sp>
      <p:sp>
        <p:nvSpPr>
          <p:cNvPr id="6" name="Text 4"/>
          <p:cNvSpPr txBox="1"/>
          <p:nvPr/>
        </p:nvSpPr>
        <p:spPr>
          <a:xfrm>
            <a:off x="822960" y="2606040"/>
            <a:ext cx="297180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4231B"/>
                </a:solidFill>
              </a:rPr>
              <a:t>Single player and team battle, end to end</a:t>
            </a:r>
            <a:endParaRPr lang="en-US" sz="1400" dirty="0"/>
          </a:p>
          <a:p>
            <a:pPr marL="342900" indent="-342900">
              <a:spcAft>
                <a:spcPts val="600"/>
              </a:spcAft>
              <a:buSzPct val="100000"/>
              <a:buChar char="•"/>
            </a:pPr>
            <a:r>
              <a:rPr lang="en-US" sz="1400" dirty="0">
                <a:solidFill>
                  <a:srgbClr val="14231B"/>
                </a:solidFill>
              </a:rPr>
              <a:t>Phones on any network via the live site</a:t>
            </a:r>
            <a:endParaRPr lang="en-US" sz="1400" dirty="0"/>
          </a:p>
          <a:p>
            <a:pPr marL="342900" indent="-342900">
              <a:spcAft>
                <a:spcPts val="600"/>
              </a:spcAft>
              <a:buSzPct val="100000"/>
              <a:buChar char="•"/>
            </a:pPr>
            <a:r>
              <a:rPr lang="en-US" sz="1400" dirty="0">
                <a:solidFill>
                  <a:srgbClr val="14231B"/>
                </a:solidFill>
              </a:rPr>
              <a:t>Room locks at start; no ghost players</a:t>
            </a:r>
            <a:endParaRPr lang="en-US" sz="1400" dirty="0"/>
          </a:p>
          <a:p>
            <a:pPr marL="342900" indent="-342900">
              <a:spcAft>
                <a:spcPts val="600"/>
              </a:spcAft>
              <a:buSzPct val="100000"/>
              <a:buChar char="•"/>
            </a:pPr>
            <a:r>
              <a:rPr lang="en-US" sz="1400" dirty="0">
                <a:solidFill>
                  <a:srgbClr val="14231B"/>
                </a:solidFill>
              </a:rPr>
              <a:t>Refresh a phone and you are back in your seat</a:t>
            </a:r>
            <a:endParaRPr lang="en-US" sz="1400" dirty="0"/>
          </a:p>
          <a:p>
            <a:pPr marL="342900" indent="-342900">
              <a:spcAft>
                <a:spcPts val="600"/>
              </a:spcAft>
              <a:buSzPct val="100000"/>
              <a:buChar char="•"/>
            </a:pPr>
            <a:r>
              <a:rPr lang="en-US" sz="1400" dirty="0">
                <a:solidFill>
                  <a:srgbClr val="14231B"/>
                </a:solidFill>
              </a:rPr>
              <a:t>Keyboard play and reduced-motion support</a:t>
            </a:r>
            <a:endParaRPr lang="en-US" sz="1400" dirty="0"/>
          </a:p>
        </p:txBody>
      </p:sp>
      <p:sp>
        <p:nvSpPr>
          <p:cNvPr id="7" name="Not yet"/>
          <p:cNvSpPr/>
          <p:nvPr/>
        </p:nvSpPr>
        <p:spPr>
          <a:xfrm>
            <a:off x="4343400" y="1828800"/>
            <a:ext cx="3520440" cy="3840480"/>
          </a:xfrm>
          <a:prstGeom prst="roundRect">
            <a:avLst>
              <a:gd name="adj" fmla="val 2078"/>
            </a:avLst>
          </a:prstGeom>
          <a:solidFill>
            <a:srgbClr val="FFFFFF"/>
          </a:solidFill>
          <a:ln w="9525">
            <a:solidFill>
              <a:srgbClr val="C9D3CC"/>
            </a:solidFill>
            <a:prstDash val="solid"/>
          </a:ln>
        </p:spPr>
      </p:sp>
      <p:sp>
        <p:nvSpPr>
          <p:cNvPr id="8" name="Text 6"/>
          <p:cNvSpPr txBox="1"/>
          <p:nvPr/>
        </p:nvSpPr>
        <p:spPr>
          <a:xfrm>
            <a:off x="4617720" y="2103120"/>
            <a:ext cx="2971800" cy="365760"/>
          </a:xfrm>
          <a:prstGeom prst="rect">
            <a:avLst/>
          </a:prstGeom>
          <a:noFill/>
          <a:ln/>
        </p:spPr>
        <p:txBody>
          <a:bodyPr wrap="square" lIns="0" tIns="0" rIns="0" bIns="0" rtlCol="0" anchor="t"/>
          <a:lstStyle/>
          <a:p>
            <a:pPr marL="0" indent="0">
              <a:buNone/>
            </a:pPr>
            <a:r>
              <a:rPr lang="en-US" sz="1800" b="1" dirty="0">
                <a:solidFill>
                  <a:srgbClr val="B4570F"/>
                </a:solidFill>
              </a:rPr>
              <a:t>Not yet</a:t>
            </a:r>
            <a:endParaRPr lang="en-US" sz="1800" dirty="0"/>
          </a:p>
        </p:txBody>
      </p:sp>
      <p:sp>
        <p:nvSpPr>
          <p:cNvPr id="9" name="Text 7"/>
          <p:cNvSpPr txBox="1"/>
          <p:nvPr/>
        </p:nvSpPr>
        <p:spPr>
          <a:xfrm>
            <a:off x="4617720" y="2606040"/>
            <a:ext cx="297180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4231B"/>
                </a:solidFill>
              </a:rPr>
              <a:t>Games live in server memory: a restart ends them</a:t>
            </a:r>
            <a:endParaRPr lang="en-US" sz="1400" dirty="0"/>
          </a:p>
          <a:p>
            <a:pPr marL="342900" indent="-342900">
              <a:spcAft>
                <a:spcPts val="600"/>
              </a:spcAft>
              <a:buSzPct val="100000"/>
              <a:buChar char="•"/>
            </a:pPr>
            <a:r>
              <a:rPr lang="en-US" sz="1400" dirty="0">
                <a:solidFill>
                  <a:srgbClr val="14231B"/>
                </a:solidFill>
              </a:rPr>
              <a:t>Free hosting sleeps: first load can take a minute</a:t>
            </a:r>
            <a:endParaRPr lang="en-US" sz="1400" dirty="0"/>
          </a:p>
          <a:p>
            <a:pPr marL="342900" indent="-342900">
              <a:spcAft>
                <a:spcPts val="600"/>
              </a:spcAft>
              <a:buSzPct val="100000"/>
              <a:buChar char="•"/>
            </a:pPr>
            <a:r>
              <a:rPr lang="en-US" sz="1400" dirty="0">
                <a:solidFill>
                  <a:srgbClr val="14231B"/>
                </a:solidFill>
              </a:rPr>
              <a:t>Rooms are not cleaned up yet (about 90 per restart)</a:t>
            </a:r>
            <a:endParaRPr lang="en-US" sz="1400" dirty="0"/>
          </a:p>
          <a:p>
            <a:pPr marL="342900" indent="-342900">
              <a:spcAft>
                <a:spcPts val="600"/>
              </a:spcAft>
              <a:buSzPct val="100000"/>
              <a:buChar char="•"/>
            </a:pPr>
            <a:r>
              <a:rPr lang="en-US" sz="1400" dirty="0">
                <a:solidFill>
                  <a:srgbClr val="14231B"/>
                </a:solidFill>
              </a:rPr>
              <a:t>No accounts: a name and team re-claims a seat</a:t>
            </a:r>
            <a:endParaRPr lang="en-US" sz="1400" dirty="0"/>
          </a:p>
          <a:p>
            <a:pPr marL="342900" indent="-342900">
              <a:spcAft>
                <a:spcPts val="600"/>
              </a:spcAft>
              <a:buSzPct val="100000"/>
              <a:buChar char="•"/>
            </a:pPr>
            <a:r>
              <a:rPr lang="en-US" sz="1400" dirty="0">
                <a:solidFill>
                  <a:srgbClr val="14231B"/>
                </a:solidFill>
              </a:rPr>
              <a:t>Not tested with a screen reader</a:t>
            </a:r>
            <a:endParaRPr lang="en-US" sz="1400" dirty="0"/>
          </a:p>
        </p:txBody>
      </p:sp>
      <p:sp>
        <p:nvSpPr>
          <p:cNvPr id="10" name="AI helped with"/>
          <p:cNvSpPr/>
          <p:nvPr/>
        </p:nvSpPr>
        <p:spPr>
          <a:xfrm>
            <a:off x="8138160" y="1828800"/>
            <a:ext cx="3520440" cy="3840480"/>
          </a:xfrm>
          <a:prstGeom prst="roundRect">
            <a:avLst>
              <a:gd name="adj" fmla="val 2078"/>
            </a:avLst>
          </a:prstGeom>
          <a:solidFill>
            <a:srgbClr val="0E2A1F"/>
          </a:solidFill>
          <a:ln/>
        </p:spPr>
      </p:sp>
      <p:sp>
        <p:nvSpPr>
          <p:cNvPr id="11" name="Text 9"/>
          <p:cNvSpPr txBox="1"/>
          <p:nvPr/>
        </p:nvSpPr>
        <p:spPr>
          <a:xfrm>
            <a:off x="8412480" y="2103120"/>
            <a:ext cx="2971800" cy="365760"/>
          </a:xfrm>
          <a:prstGeom prst="rect">
            <a:avLst/>
          </a:prstGeom>
          <a:noFill/>
          <a:ln/>
        </p:spPr>
        <p:txBody>
          <a:bodyPr wrap="square" lIns="0" tIns="0" rIns="0" bIns="0" rtlCol="0" anchor="t"/>
          <a:lstStyle/>
          <a:p>
            <a:pPr marL="0" indent="0">
              <a:buNone/>
            </a:pPr>
            <a:r>
              <a:rPr lang="en-US" sz="1800" b="1" dirty="0">
                <a:solidFill>
                  <a:srgbClr val="2EB872"/>
                </a:solidFill>
              </a:rPr>
              <a:t>AI helped with</a:t>
            </a:r>
            <a:endParaRPr lang="en-US" sz="1800" dirty="0"/>
          </a:p>
        </p:txBody>
      </p:sp>
      <p:sp>
        <p:nvSpPr>
          <p:cNvPr id="12" name="Text 10"/>
          <p:cNvSpPr txBox="1"/>
          <p:nvPr/>
        </p:nvSpPr>
        <p:spPr>
          <a:xfrm>
            <a:off x="8412480" y="2606040"/>
            <a:ext cx="2971800" cy="2880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3F6F1"/>
                </a:solidFill>
              </a:rPr>
              <a:t>Reading the brief and planning</a:t>
            </a:r>
            <a:endParaRPr lang="en-US" sz="1400" dirty="0"/>
          </a:p>
          <a:p>
            <a:pPr marL="342900" indent="-342900">
              <a:spcAft>
                <a:spcPts val="600"/>
              </a:spcAft>
              <a:buSzPct val="100000"/>
              <a:buChar char="•"/>
            </a:pPr>
            <a:r>
              <a:rPr lang="en-US" sz="1400" dirty="0">
                <a:solidFill>
                  <a:srgbClr val="F3F6F1"/>
                </a:solidFill>
              </a:rPr>
              <a:t>Drafting code, tests and documents</a:t>
            </a:r>
            <a:endParaRPr lang="en-US" sz="1400" dirty="0"/>
          </a:p>
          <a:p>
            <a:pPr marL="342900" indent="-342900">
              <a:spcAft>
                <a:spcPts val="600"/>
              </a:spcAft>
              <a:buSzPct val="100000"/>
              <a:buChar char="•"/>
            </a:pPr>
            <a:r>
              <a:rPr lang="en-US" sz="1400" dirty="0">
                <a:solidFill>
                  <a:srgbClr val="F3F6F1"/>
                </a:solidFill>
              </a:rPr>
              <a:t>Reviewing code for bugs</a:t>
            </a:r>
            <a:endParaRPr lang="en-US" sz="1400" dirty="0"/>
          </a:p>
          <a:p>
            <a:pPr marL="342900" indent="-342900">
              <a:spcAft>
                <a:spcPts val="600"/>
              </a:spcAft>
              <a:buSzPct val="100000"/>
              <a:buChar char="•"/>
            </a:pPr>
            <a:r>
              <a:rPr lang="en-US" sz="1400" dirty="0">
                <a:solidFill>
                  <a:srgbClr val="F3F6F1"/>
                </a:solidFill>
              </a:rPr>
              <a:t>We designed it, ran every test ourselves and checked scores against the supplied module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A6D6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48640" y="822960"/>
            <a:ext cx="9144000" cy="274320"/>
          </a:xfrm>
          <a:prstGeom prst="rect">
            <a:avLst/>
          </a:prstGeom>
          <a:noFill/>
          <a:ln/>
        </p:spPr>
        <p:txBody>
          <a:bodyPr wrap="square" lIns="0" tIns="0" rIns="0" bIns="0" rtlCol="0" anchor="ctr"/>
          <a:lstStyle/>
          <a:p>
            <a:pPr marL="0" indent="0">
              <a:buNone/>
            </a:pPr>
            <a:r>
              <a:rPr lang="en-US" sz="1200" b="1" kern="0" spc="200" dirty="0">
                <a:solidFill>
                  <a:srgbClr val="2EB872"/>
                </a:solidFill>
              </a:rPr>
              <a:t>OVER TO YOU</a:t>
            </a:r>
            <a:endParaRPr lang="en-US" sz="1200" dirty="0"/>
          </a:p>
        </p:txBody>
      </p:sp>
      <p:sp>
        <p:nvSpPr>
          <p:cNvPr id="3" name="title"/>
          <p:cNvSpPr txBox="1"/>
          <p:nvPr/>
        </p:nvSpPr>
        <p:spPr>
          <a:xfrm>
            <a:off x="548640" y="1280160"/>
            <a:ext cx="7315200" cy="1097280"/>
          </a:xfrm>
          <a:prstGeom prst="rect">
            <a:avLst/>
          </a:prstGeom>
          <a:noFill/>
          <a:ln/>
        </p:spPr>
        <p:txBody>
          <a:bodyPr wrap="square" lIns="0" tIns="0" rIns="0" bIns="0" rtlCol="0" anchor="t"/>
          <a:lstStyle/>
          <a:p>
            <a:pPr marL="0" indent="0">
              <a:buNone/>
            </a:pPr>
            <a:r>
              <a:rPr lang="en-US" sz="6000" b="1" dirty="0">
                <a:solidFill>
                  <a:srgbClr val="F3F6F1"/>
                </a:solidFill>
              </a:rPr>
              <a:t>Questions?</a:t>
            </a:r>
            <a:endParaRPr lang="en-US" sz="6000" dirty="0"/>
          </a:p>
        </p:txBody>
      </p:sp>
      <p:sp>
        <p:nvSpPr>
          <p:cNvPr id="4" name="Text 2"/>
          <p:cNvSpPr txBox="1"/>
          <p:nvPr/>
        </p:nvSpPr>
        <p:spPr>
          <a:xfrm>
            <a:off x="548640" y="2651760"/>
            <a:ext cx="6949440" cy="1188720"/>
          </a:xfrm>
          <a:prstGeom prst="rect">
            <a:avLst/>
          </a:prstGeom>
          <a:noFill/>
          <a:ln/>
        </p:spPr>
        <p:txBody>
          <a:bodyPr wrap="square" lIns="0" tIns="0" rIns="0" bIns="0" rtlCol="0" anchor="t"/>
          <a:lstStyle/>
          <a:p>
            <a:pPr marL="0" indent="0">
              <a:buNone/>
            </a:pPr>
            <a:r>
              <a:rPr lang="en-US" sz="1700" dirty="0">
                <a:solidFill>
                  <a:srgbClr val="BFD6C8"/>
                </a:solidFill>
              </a:rPr>
              <a:t>Next for ScottishPower: the scenario and questions are plain JSON files, so the cyber team can change prices, scores and questions without touching the code, and one web link reaches every team.</a:t>
            </a:r>
            <a:endParaRPr lang="en-US" sz="1700" dirty="0"/>
          </a:p>
        </p:txBody>
      </p:sp>
      <p:sp>
        <p:nvSpPr>
          <p:cNvPr id="5" name="Text 3"/>
          <p:cNvSpPr txBox="1"/>
          <p:nvPr/>
        </p:nvSpPr>
        <p:spPr>
          <a:xfrm>
            <a:off x="548640" y="3931920"/>
            <a:ext cx="6949440" cy="365760"/>
          </a:xfrm>
          <a:prstGeom prst="rect">
            <a:avLst/>
          </a:prstGeom>
          <a:noFill/>
          <a:ln/>
        </p:spPr>
        <p:txBody>
          <a:bodyPr wrap="square" lIns="0" tIns="0" rIns="0" bIns="0" rtlCol="0" anchor="t"/>
          <a:lstStyle/>
          <a:p>
            <a:pPr marL="0" indent="0">
              <a:buNone/>
            </a:pPr>
            <a:r>
              <a:rPr lang="en-US" sz="1600" dirty="0">
                <a:solidFill>
                  <a:srgbClr val="BFD6C8"/>
                </a:solidFill>
              </a:rPr>
              <a:t>Play it: </a:t>
            </a:r>
            <a:r>
              <a:rPr lang="en-US" sz="1600" b="1" u="sng" dirty="0">
                <a:solidFill>
                  <a:srgbClr val="2EB872"/>
                </a:solidFill>
                <a:hlinkClick r:id="rId3">
                  <a:extLst>
                    <a:ext uri="{A12FA001-AC4F-418D-AE19-62706E023703}">
                      <ahyp:hlinkClr xmlns:ahyp="http://schemas.microsoft.com/office/drawing/2018/hyperlinkcolor" val="tx"/>
                    </a:ext>
                  </a:extLst>
                </a:hlinkClick>
              </a:rPr>
              <a:t>team-20-vglm.onrender.com</a:t>
            </a:r>
            <a:endParaRPr lang="en-US" sz="1600" dirty="0"/>
          </a:p>
        </p:txBody>
      </p:sp>
      <p:sp>
        <p:nvSpPr>
          <p:cNvPr id="6" name="team line Tejas"/>
          <p:cNvSpPr/>
          <p:nvPr/>
        </p:nvSpPr>
        <p:spPr>
          <a:xfrm>
            <a:off x="548640" y="4937760"/>
            <a:ext cx="2036003" cy="0"/>
          </a:xfrm>
          <a:prstGeom prst="line">
            <a:avLst/>
          </a:prstGeom>
          <a:noFill/>
          <a:ln w="19050">
            <a:solidFill>
              <a:srgbClr val="334E43"/>
            </a:solidFill>
            <a:prstDash val="solid"/>
          </a:ln>
        </p:spPr>
      </p:sp>
      <p:sp>
        <p:nvSpPr>
          <p:cNvPr id="7" name="Text 5"/>
          <p:cNvSpPr txBox="1"/>
          <p:nvPr/>
        </p:nvSpPr>
        <p:spPr>
          <a:xfrm>
            <a:off x="548640" y="5074920"/>
            <a:ext cx="2036003" cy="320040"/>
          </a:xfrm>
          <a:prstGeom prst="rect">
            <a:avLst/>
          </a:prstGeom>
          <a:noFill/>
          <a:ln/>
        </p:spPr>
        <p:txBody>
          <a:bodyPr wrap="square" lIns="0" tIns="0" rIns="0" bIns="0" rtlCol="0" anchor="t"/>
          <a:lstStyle/>
          <a:p>
            <a:pPr marL="0" indent="0">
              <a:buNone/>
            </a:pPr>
            <a:r>
              <a:rPr lang="en-US" sz="1600" b="1" dirty="0">
                <a:solidFill>
                  <a:srgbClr val="F3F6F1"/>
                </a:solidFill>
              </a:rPr>
              <a:t>Tejas</a:t>
            </a:r>
            <a:endParaRPr lang="en-US" sz="1600" dirty="0"/>
          </a:p>
        </p:txBody>
      </p:sp>
      <p:sp>
        <p:nvSpPr>
          <p:cNvPr id="8" name="Text 6"/>
          <p:cNvSpPr txBox="1"/>
          <p:nvPr/>
        </p:nvSpPr>
        <p:spPr>
          <a:xfrm>
            <a:off x="548640" y="5413248"/>
            <a:ext cx="2036003" cy="320040"/>
          </a:xfrm>
          <a:prstGeom prst="rect">
            <a:avLst/>
          </a:prstGeom>
          <a:noFill/>
          <a:ln/>
        </p:spPr>
        <p:txBody>
          <a:bodyPr wrap="square" lIns="0" tIns="0" rIns="0" bIns="0" rtlCol="0" anchor="t"/>
          <a:lstStyle/>
          <a:p>
            <a:pPr marL="0" indent="0">
              <a:buNone/>
            </a:pPr>
            <a:r>
              <a:rPr lang="en-US" sz="1200" dirty="0">
                <a:solidFill>
                  <a:srgbClr val="BFD6C8"/>
                </a:solidFill>
              </a:rPr>
              <a:t>Engine</a:t>
            </a:r>
            <a:endParaRPr lang="en-US" sz="1200" dirty="0"/>
          </a:p>
        </p:txBody>
      </p:sp>
      <p:sp>
        <p:nvSpPr>
          <p:cNvPr id="9" name="team line Rayyan"/>
          <p:cNvSpPr/>
          <p:nvPr/>
        </p:nvSpPr>
        <p:spPr>
          <a:xfrm>
            <a:off x="2813243" y="4937760"/>
            <a:ext cx="2036003" cy="0"/>
          </a:xfrm>
          <a:prstGeom prst="line">
            <a:avLst/>
          </a:prstGeom>
          <a:noFill/>
          <a:ln w="19050">
            <a:solidFill>
              <a:srgbClr val="334E43"/>
            </a:solidFill>
            <a:prstDash val="solid"/>
          </a:ln>
        </p:spPr>
      </p:sp>
      <p:sp>
        <p:nvSpPr>
          <p:cNvPr id="10" name="Text 8"/>
          <p:cNvSpPr txBox="1"/>
          <p:nvPr/>
        </p:nvSpPr>
        <p:spPr>
          <a:xfrm>
            <a:off x="2813243" y="5074920"/>
            <a:ext cx="2036003" cy="320040"/>
          </a:xfrm>
          <a:prstGeom prst="rect">
            <a:avLst/>
          </a:prstGeom>
          <a:noFill/>
          <a:ln/>
        </p:spPr>
        <p:txBody>
          <a:bodyPr wrap="square" lIns="0" tIns="0" rIns="0" bIns="0" rtlCol="0" anchor="t"/>
          <a:lstStyle/>
          <a:p>
            <a:pPr marL="0" indent="0">
              <a:buNone/>
            </a:pPr>
            <a:r>
              <a:rPr lang="en-US" sz="1600" b="1" dirty="0">
                <a:solidFill>
                  <a:srgbClr val="F3F6F1"/>
                </a:solidFill>
              </a:rPr>
              <a:t>Rayyan</a:t>
            </a:r>
            <a:endParaRPr lang="en-US" sz="1600" dirty="0"/>
          </a:p>
        </p:txBody>
      </p:sp>
      <p:sp>
        <p:nvSpPr>
          <p:cNvPr id="11" name="Text 9"/>
          <p:cNvSpPr txBox="1"/>
          <p:nvPr/>
        </p:nvSpPr>
        <p:spPr>
          <a:xfrm>
            <a:off x="2813243" y="5413248"/>
            <a:ext cx="2036003" cy="320040"/>
          </a:xfrm>
          <a:prstGeom prst="rect">
            <a:avLst/>
          </a:prstGeom>
          <a:noFill/>
          <a:ln/>
        </p:spPr>
        <p:txBody>
          <a:bodyPr wrap="square" lIns="0" tIns="0" rIns="0" bIns="0" rtlCol="0" anchor="t"/>
          <a:lstStyle/>
          <a:p>
            <a:pPr marL="0" indent="0">
              <a:buNone/>
            </a:pPr>
            <a:r>
              <a:rPr lang="en-US" sz="1200" dirty="0">
                <a:solidFill>
                  <a:srgbClr val="BFD6C8"/>
                </a:solidFill>
              </a:rPr>
              <a:t>Rules &amp; screens</a:t>
            </a:r>
            <a:endParaRPr lang="en-US" sz="1200" dirty="0"/>
          </a:p>
        </p:txBody>
      </p:sp>
      <p:sp>
        <p:nvSpPr>
          <p:cNvPr id="12" name="team line Ghassan"/>
          <p:cNvSpPr/>
          <p:nvPr/>
        </p:nvSpPr>
        <p:spPr>
          <a:xfrm>
            <a:off x="5077846" y="4937760"/>
            <a:ext cx="2036003" cy="0"/>
          </a:xfrm>
          <a:prstGeom prst="line">
            <a:avLst/>
          </a:prstGeom>
          <a:noFill/>
          <a:ln w="19050">
            <a:solidFill>
              <a:srgbClr val="334E43"/>
            </a:solidFill>
            <a:prstDash val="solid"/>
          </a:ln>
        </p:spPr>
      </p:sp>
      <p:sp>
        <p:nvSpPr>
          <p:cNvPr id="13" name="Text 11"/>
          <p:cNvSpPr txBox="1"/>
          <p:nvPr/>
        </p:nvSpPr>
        <p:spPr>
          <a:xfrm>
            <a:off x="5077846" y="5074920"/>
            <a:ext cx="2036003" cy="320040"/>
          </a:xfrm>
          <a:prstGeom prst="rect">
            <a:avLst/>
          </a:prstGeom>
          <a:noFill/>
          <a:ln/>
        </p:spPr>
        <p:txBody>
          <a:bodyPr wrap="square" lIns="0" tIns="0" rIns="0" bIns="0" rtlCol="0" anchor="t"/>
          <a:lstStyle/>
          <a:p>
            <a:pPr marL="0" indent="0">
              <a:buNone/>
            </a:pPr>
            <a:r>
              <a:rPr lang="en-US" sz="1600" b="1" dirty="0">
                <a:solidFill>
                  <a:srgbClr val="F3F6F1"/>
                </a:solidFill>
              </a:rPr>
              <a:t>Ghassan</a:t>
            </a:r>
            <a:endParaRPr lang="en-US" sz="1600" dirty="0"/>
          </a:p>
        </p:txBody>
      </p:sp>
      <p:sp>
        <p:nvSpPr>
          <p:cNvPr id="14" name="Text 12"/>
          <p:cNvSpPr txBox="1"/>
          <p:nvPr/>
        </p:nvSpPr>
        <p:spPr>
          <a:xfrm>
            <a:off x="5077846" y="5413248"/>
            <a:ext cx="2036003" cy="320040"/>
          </a:xfrm>
          <a:prstGeom prst="rect">
            <a:avLst/>
          </a:prstGeom>
          <a:noFill/>
          <a:ln/>
        </p:spPr>
        <p:txBody>
          <a:bodyPr wrap="square" lIns="0" tIns="0" rIns="0" bIns="0" rtlCol="0" anchor="t"/>
          <a:lstStyle/>
          <a:p>
            <a:pPr marL="0" indent="0">
              <a:buNone/>
            </a:pPr>
            <a:r>
              <a:rPr lang="en-US" sz="1200" dirty="0">
                <a:solidFill>
                  <a:srgbClr val="BFD6C8"/>
                </a:solidFill>
              </a:rPr>
              <a:t>Checkpoints &amp; audit</a:t>
            </a:r>
            <a:endParaRPr lang="en-US" sz="1200" dirty="0"/>
          </a:p>
        </p:txBody>
      </p:sp>
      <p:sp>
        <p:nvSpPr>
          <p:cNvPr id="15" name="team line Vansh"/>
          <p:cNvSpPr/>
          <p:nvPr/>
        </p:nvSpPr>
        <p:spPr>
          <a:xfrm>
            <a:off x="7342449" y="4937760"/>
            <a:ext cx="2036003" cy="0"/>
          </a:xfrm>
          <a:prstGeom prst="line">
            <a:avLst/>
          </a:prstGeom>
          <a:noFill/>
          <a:ln w="19050">
            <a:solidFill>
              <a:srgbClr val="334E43"/>
            </a:solidFill>
            <a:prstDash val="solid"/>
          </a:ln>
        </p:spPr>
      </p:sp>
      <p:sp>
        <p:nvSpPr>
          <p:cNvPr id="16" name="Text 14"/>
          <p:cNvSpPr txBox="1"/>
          <p:nvPr/>
        </p:nvSpPr>
        <p:spPr>
          <a:xfrm>
            <a:off x="7342449" y="5074920"/>
            <a:ext cx="2036003" cy="320040"/>
          </a:xfrm>
          <a:prstGeom prst="rect">
            <a:avLst/>
          </a:prstGeom>
          <a:noFill/>
          <a:ln/>
        </p:spPr>
        <p:txBody>
          <a:bodyPr wrap="square" lIns="0" tIns="0" rIns="0" bIns="0" rtlCol="0" anchor="t"/>
          <a:lstStyle/>
          <a:p>
            <a:pPr marL="0" indent="0">
              <a:buNone/>
            </a:pPr>
            <a:r>
              <a:rPr lang="en-US" sz="1600" b="1" dirty="0">
                <a:solidFill>
                  <a:srgbClr val="F3F6F1"/>
                </a:solidFill>
              </a:rPr>
              <a:t>Vansh</a:t>
            </a:r>
            <a:endParaRPr lang="en-US" sz="1600" dirty="0"/>
          </a:p>
        </p:txBody>
      </p:sp>
      <p:sp>
        <p:nvSpPr>
          <p:cNvPr id="17" name="Text 15"/>
          <p:cNvSpPr txBox="1"/>
          <p:nvPr/>
        </p:nvSpPr>
        <p:spPr>
          <a:xfrm>
            <a:off x="7342449" y="5413248"/>
            <a:ext cx="2036003" cy="320040"/>
          </a:xfrm>
          <a:prstGeom prst="rect">
            <a:avLst/>
          </a:prstGeom>
          <a:noFill/>
          <a:ln/>
        </p:spPr>
        <p:txBody>
          <a:bodyPr wrap="square" lIns="0" tIns="0" rIns="0" bIns="0" rtlCol="0" anchor="t"/>
          <a:lstStyle/>
          <a:p>
            <a:pPr marL="0" indent="0">
              <a:buNone/>
            </a:pPr>
            <a:r>
              <a:rPr lang="en-US" sz="1200" dirty="0">
                <a:solidFill>
                  <a:srgbClr val="BFD6C8"/>
                </a:solidFill>
              </a:rPr>
              <a:t>Team battle &amp; deploy</a:t>
            </a:r>
            <a:endParaRPr lang="en-US" sz="1200" dirty="0"/>
          </a:p>
        </p:txBody>
      </p:sp>
      <p:sp>
        <p:nvSpPr>
          <p:cNvPr id="18" name="team line Mo"/>
          <p:cNvSpPr/>
          <p:nvPr/>
        </p:nvSpPr>
        <p:spPr>
          <a:xfrm>
            <a:off x="9607052" y="4937760"/>
            <a:ext cx="2036003" cy="0"/>
          </a:xfrm>
          <a:prstGeom prst="line">
            <a:avLst/>
          </a:prstGeom>
          <a:noFill/>
          <a:ln w="19050">
            <a:solidFill>
              <a:srgbClr val="334E43"/>
            </a:solidFill>
            <a:prstDash val="solid"/>
          </a:ln>
        </p:spPr>
      </p:sp>
      <p:sp>
        <p:nvSpPr>
          <p:cNvPr id="19" name="Text 17"/>
          <p:cNvSpPr txBox="1"/>
          <p:nvPr/>
        </p:nvSpPr>
        <p:spPr>
          <a:xfrm>
            <a:off x="9607052" y="5074920"/>
            <a:ext cx="2036003" cy="320040"/>
          </a:xfrm>
          <a:prstGeom prst="rect">
            <a:avLst/>
          </a:prstGeom>
          <a:noFill/>
          <a:ln/>
        </p:spPr>
        <p:txBody>
          <a:bodyPr wrap="square" lIns="0" tIns="0" rIns="0" bIns="0" rtlCol="0" anchor="t"/>
          <a:lstStyle/>
          <a:p>
            <a:pPr marL="0" indent="0">
              <a:buNone/>
            </a:pPr>
            <a:r>
              <a:rPr lang="en-US" sz="1600" b="1" dirty="0">
                <a:solidFill>
                  <a:srgbClr val="F3F6F1"/>
                </a:solidFill>
              </a:rPr>
              <a:t>Mo</a:t>
            </a:r>
            <a:endParaRPr lang="en-US" sz="1600" dirty="0"/>
          </a:p>
        </p:txBody>
      </p:sp>
      <p:sp>
        <p:nvSpPr>
          <p:cNvPr id="20" name="Text 18"/>
          <p:cNvSpPr txBox="1"/>
          <p:nvPr/>
        </p:nvSpPr>
        <p:spPr>
          <a:xfrm>
            <a:off x="9607052" y="5413248"/>
            <a:ext cx="2036003" cy="320040"/>
          </a:xfrm>
          <a:prstGeom prst="rect">
            <a:avLst/>
          </a:prstGeom>
          <a:noFill/>
          <a:ln/>
        </p:spPr>
        <p:txBody>
          <a:bodyPr wrap="square" lIns="0" tIns="0" rIns="0" bIns="0" rtlCol="0" anchor="t"/>
          <a:lstStyle/>
          <a:p>
            <a:pPr marL="0" indent="0">
              <a:buNone/>
            </a:pPr>
            <a:r>
              <a:rPr lang="en-US" sz="1200" dirty="0">
                <a:solidFill>
                  <a:srgbClr val="BFD6C8"/>
                </a:solidFill>
              </a:rPr>
              <a:t>Tests &amp; debrief</a:t>
            </a:r>
            <a:endParaRPr lang="en-US" sz="1200" dirty="0"/>
          </a:p>
        </p:txBody>
      </p:sp>
      <p:sp>
        <p:nvSpPr>
          <p:cNvPr id="22"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FD6C8"/>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411480"/>
            <a:ext cx="9144000" cy="274320"/>
          </a:xfrm>
          <a:prstGeom prst="rect">
            <a:avLst/>
          </a:prstGeom>
          <a:noFill/>
          <a:ln/>
        </p:spPr>
        <p:txBody>
          <a:bodyPr wrap="square" lIns="0" tIns="0" rIns="0" bIns="0" rtlCol="0" anchor="ctr"/>
          <a:lstStyle/>
          <a:p>
            <a:pPr marL="0" indent="0">
              <a:buNone/>
            </a:pPr>
            <a:r>
              <a:rPr lang="en-US" sz="1200" b="1" kern="0" spc="200" dirty="0">
                <a:solidFill>
                  <a:srgbClr val="2EB872"/>
                </a:solidFill>
              </a:rPr>
              <a:t>THANK YOU</a:t>
            </a:r>
            <a:endParaRPr lang="en-US" sz="1200" dirty="0"/>
          </a:p>
        </p:txBody>
      </p:sp>
      <p:sp>
        <p:nvSpPr>
          <p:cNvPr id="4" name="Text 1"/>
          <p:cNvSpPr>
            <a:spLocks noGrp="1"/>
          </p:cNvSpPr>
          <p:nvPr>
            <p:ph type="title" idx="101" hasCustomPrompt="1"/>
          </p:nvPr>
        </p:nvSpPr>
        <p:spPr>
          <a:xfrm>
            <a:off x="548640" y="749808"/>
            <a:ext cx="11094415" cy="777240"/>
          </a:xfrm>
          <a:prstGeom prst="rect">
            <a:avLst/>
          </a:prstGeom>
          <a:noFill/>
          <a:ln/>
        </p:spPr>
        <p:txBody>
          <a:bodyPr wrap="square" lIns="0" tIns="0" rIns="0" bIns="0" rtlCol="0" anchor="t"/>
          <a:lstStyle/>
          <a:p>
            <a:pPr marL="0" indent="0" algn="l">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BFD6C8"/>
                </a:solidFill>
              </a:defRPr>
            </a:lvl1pPr>
          </a:lstStyle>
          <a:p>
            <a:pPr algn="r"/>
            <a:fld id="{F7021451-1387-4CA6-816F-3879F97B5CBC}" type="slidenum">
              <a:rPr lang="en-US" b="0"/>
              <a:t>13</a:t>
            </a:fld>
            <a:endParaRPr lang="en-US"/>
          </a:p>
        </p:txBody>
      </p:sp>
      <p:pic>
        <p:nvPicPr>
          <p:cNvPr id="3" name="Thank you video" descr="Thank-you video from Team 20">
            <a:hlinkClick r:id="" action="ppaction://media"/>
            <a:extLst>
              <a:ext uri="{FF2B5EF4-FFF2-40B4-BE49-F238E27FC236}">
                <a16:creationId xmlns:a16="http://schemas.microsoft.com/office/drawing/2014/main" id="{863C7D9C-7219-DF3A-414D-7E6F9DEDB16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371600" y="889000"/>
            <a:ext cx="9448800" cy="5314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83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theme/theme1.xml><?xml version="1.0" encoding="utf-8"?>
<a:theme xmlns:a="http://schemas.openxmlformats.org/drawingml/2006/main" name="Zero Hour">
  <a:themeElements>
    <a:clrScheme name="Zero Hour">
      <a:dk1>
        <a:srgbClr val="14231B"/>
      </a:dk1>
      <a:lt1>
        <a:srgbClr val="F3F6F1"/>
      </a:lt1>
      <a:dk2>
        <a:srgbClr val="0E2A1F"/>
      </a:dk2>
      <a:lt2>
        <a:srgbClr val="E6EBE7"/>
      </a:lt2>
      <a:accent1>
        <a:srgbClr val="2EB872"/>
      </a:accent1>
      <a:accent2>
        <a:srgbClr val="6CB8EC"/>
      </a:accent2>
      <a:accent3>
        <a:srgbClr val="F0A24A"/>
      </a:accent3>
      <a:accent4>
        <a:srgbClr val="0B7A43"/>
      </a:accent4>
      <a:accent5>
        <a:srgbClr val="BFD6C8"/>
      </a:accent5>
      <a:accent6>
        <a:srgbClr val="1D372C"/>
      </a:accent6>
      <a:hlink>
        <a:srgbClr val="0B7A43"/>
      </a:hlink>
      <a:folHlink>
        <a:srgbClr val="0B7A43"/>
      </a:folHlink>
    </a:clrScheme>
    <a:fontScheme name="Zero Hou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2374</Words>
  <Application>Microsoft Office PowerPoint</Application>
  <PresentationFormat>Widescreen</PresentationFormat>
  <Paragraphs>205</Paragraphs>
  <Slides>13</Slides>
  <Notes>13</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Courier New</vt:lpstr>
      <vt:lpstr>Zero Hour</vt:lpstr>
      <vt:lpstr>PowerPoint Presentation</vt:lpstr>
      <vt:lpstr>A proven game that only works in a room</vt:lpstr>
      <vt:lpstr>Four steps, one score</vt:lpstr>
      <vt:lpstr>One night, four phases</vt:lpstr>
      <vt:lpstr>Your answers change the game</vt:lpstr>
      <vt:lpstr>Team battle: whose wall holds?</vt:lpstr>
      <vt:lpstr>Let's play it</vt:lpstr>
      <vt:lpstr>One state per team, one place that changes it</vt:lpstr>
      <vt:lpstr>The server owns the state; phones only ask</vt:lpstr>
      <vt:lpstr>Every rule in the brief has a test</vt:lpstr>
      <vt:lpstr>What works, what doesn't, and where AI helped</vt:lpstr>
      <vt:lpstr>PowerPoint Presentation</vt:lpstr>
      <vt:lpstr>PowerPoint Presentation</vt:lpstr>
    </vt:vector>
  </TitlesOfParts>
  <Company>Team 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Hour · Team 20 · StrathHack26</dc:title>
  <dc:subject>PptxGenJS Presentation</dc:subject>
  <dc:creator>Team 20</dc:creator>
  <cp:lastModifiedBy>vansh.thacker06@gmail.com</cp:lastModifiedBy>
  <cp:revision>2</cp:revision>
  <dcterms:created xsi:type="dcterms:W3CDTF">2026-10-11T10:43:14Z</dcterms:created>
  <dcterms:modified xsi:type="dcterms:W3CDTF">2026-10-11T10:43:55Z</dcterms:modified>
</cp:coreProperties>
</file>